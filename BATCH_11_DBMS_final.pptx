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9"/>
  </p:notesMasterIdLst>
  <p:handoutMasterIdLst>
    <p:handoutMasterId r:id="rId40"/>
  </p:handoutMasterIdLst>
  <p:sldIdLst>
    <p:sldId id="256" r:id="rId2"/>
    <p:sldId id="426" r:id="rId3"/>
    <p:sldId id="428" r:id="rId4"/>
    <p:sldId id="427" r:id="rId5"/>
    <p:sldId id="429" r:id="rId6"/>
    <p:sldId id="430" r:id="rId7"/>
    <p:sldId id="431" r:id="rId8"/>
    <p:sldId id="435" r:id="rId9"/>
    <p:sldId id="438" r:id="rId10"/>
    <p:sldId id="467" r:id="rId11"/>
    <p:sldId id="432" r:id="rId12"/>
    <p:sldId id="441" r:id="rId13"/>
    <p:sldId id="446" r:id="rId14"/>
    <p:sldId id="447" r:id="rId15"/>
    <p:sldId id="448" r:id="rId16"/>
    <p:sldId id="449" r:id="rId17"/>
    <p:sldId id="450" r:id="rId18"/>
    <p:sldId id="451" r:id="rId19"/>
    <p:sldId id="452" r:id="rId20"/>
    <p:sldId id="453" r:id="rId21"/>
    <p:sldId id="454" r:id="rId22"/>
    <p:sldId id="455" r:id="rId23"/>
    <p:sldId id="456" r:id="rId24"/>
    <p:sldId id="457" r:id="rId25"/>
    <p:sldId id="466" r:id="rId26"/>
    <p:sldId id="465" r:id="rId27"/>
    <p:sldId id="464" r:id="rId28"/>
    <p:sldId id="463" r:id="rId29"/>
    <p:sldId id="462" r:id="rId30"/>
    <p:sldId id="461" r:id="rId31"/>
    <p:sldId id="460" r:id="rId32"/>
    <p:sldId id="459" r:id="rId33"/>
    <p:sldId id="458" r:id="rId34"/>
    <p:sldId id="468" r:id="rId35"/>
    <p:sldId id="469" r:id="rId36"/>
    <p:sldId id="470" r:id="rId37"/>
    <p:sldId id="293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45" autoAdjust="0"/>
    <p:restoredTop sz="94832" autoAdjust="0"/>
  </p:normalViewPr>
  <p:slideViewPr>
    <p:cSldViewPr>
      <p:cViewPr varScale="1">
        <p:scale>
          <a:sx n="123" d="100"/>
          <a:sy n="123" d="100"/>
        </p:scale>
        <p:origin x="384" y="3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5AD38-0796-B4A0-F437-8C37B4D1B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1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8CBE8F9-096B-48BD-AF91-C68E84B4AE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30/09/26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B80BD04-4FB9-48ED-8F04-82E1E9B47D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1A2048-2A34-7FBF-43D5-D3D3725F2A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04257EF-5910-55BD-B426-CB8A9D6AA2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7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69367759-B4C6-4477-29E7-48E08870C8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BBF301A-453A-BED0-C53C-37286AA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30/09/26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BBB8F58-91C5-AB5A-807E-19452F6556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19C11AA-4309-9F6B-48A3-24FE199327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7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3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1571612"/>
            <a:ext cx="10696612" cy="24288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FF0000"/>
                </a:solidFill>
                <a:latin typeface="Tw Cen MT" pitchFamily="34" charset="0"/>
                <a:ea typeface="+mj-ea"/>
                <a:cs typeface="+mj-cs"/>
              </a:rPr>
              <a:t>DBMS Cornerstone Project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3200" dirty="0">
                <a:solidFill>
                  <a:srgbClr val="002060"/>
                </a:solidFill>
                <a:latin typeface="Tw Cen MT" pitchFamily="34" charset="0"/>
                <a:ea typeface="+mj-ea"/>
                <a:cs typeface="+mj-cs"/>
              </a:rPr>
              <a:t>Inventory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  <a:t> Management System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</a:br>
            <a:r>
              <a:rPr lang="en-IN" sz="2000" b="1" dirty="0"/>
              <a:t>Automated Stock Tracking &amp; Purchase/Sales Management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" pitchFamily="34" charset="0"/>
              <a:ea typeface="+mj-ea"/>
              <a:cs typeface="+mj-cs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-960784" y="5426231"/>
            <a:ext cx="6440250" cy="1417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IN" dirty="0"/>
              <a:t>Kishore Pandiyan SureshKumar</a:t>
            </a:r>
            <a:r>
              <a:rPr lang="en-US" sz="1600" dirty="0">
                <a:solidFill>
                  <a:srgbClr val="002060"/>
                </a:solidFill>
                <a:latin typeface="Tw Cen MT" pitchFamily="34" charset="0"/>
              </a:rPr>
              <a:t>·  25B11CS433</a:t>
            </a:r>
          </a:p>
          <a:p>
            <a:pPr lvl="0" algn="ctr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IN" dirty="0"/>
              <a:t>Siripurapu Kusuma Kumar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n-ea"/>
                <a:cs typeface="+mn-cs"/>
              </a:rPr>
              <a:t>·  </a:t>
            </a:r>
            <a:r>
              <a:rPr lang="en-IN" dirty="0"/>
              <a:t>25B11CS905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w Cen MT" pitchFamily="34" charset="0"/>
              <a:ea typeface="+mn-ea"/>
              <a:cs typeface="+mn-cs"/>
            </a:endParaRPr>
          </a:p>
          <a:p>
            <a:pPr lvl="0" algn="ctr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n-ea"/>
                <a:cs typeface="+mn-cs"/>
              </a:rPr>
              <a:t>L . Siva Ganesh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n-ea"/>
                <a:cs typeface="+mn-cs"/>
              </a:rPr>
              <a:t>·  25B11CS519</a:t>
            </a:r>
            <a:endParaRPr lang="en-US" sz="1600" dirty="0">
              <a:solidFill>
                <a:srgbClr val="002060"/>
              </a:solidFill>
              <a:latin typeface="Tw Cen MT" pitchFamily="34" charset="0"/>
            </a:endParaRPr>
          </a:p>
          <a:p>
            <a:pPr lvl="0" algn="ctr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IN" dirty="0"/>
              <a:t>Panashe Ncube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n-ea"/>
                <a:cs typeface="+mn-cs"/>
              </a:rPr>
              <a:t>·  25B11CSA72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904FD2-AA6A-0D83-1E31-05221C1491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152" y="3717032"/>
            <a:ext cx="4303904" cy="28783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423592" y="980728"/>
            <a:ext cx="464347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2476"/>
            <a:ext cx="10515600" cy="4531419"/>
          </a:xfrm>
        </p:spPr>
        <p:txBody>
          <a:bodyPr>
            <a:normAutofit/>
          </a:bodyPr>
          <a:lstStyle/>
          <a:p>
            <a:r>
              <a:rPr sz="1500">
                <a:solidFill>
                  <a:srgbClr val="0F172A"/>
                </a:solidFill>
                <a:latin typeface="Calibri"/>
              </a:rPr>
              <a:t>Problem statement &amp; requirement analysis</a:t>
            </a:r>
          </a:p>
          <a:p>
            <a:r>
              <a:rPr sz="1500">
                <a:solidFill>
                  <a:srgbClr val="0F172A"/>
                </a:solidFill>
                <a:latin typeface="Calibri"/>
              </a:rPr>
              <a:t>Objectives</a:t>
            </a:r>
          </a:p>
          <a:p>
            <a:r>
              <a:rPr sz="1500">
                <a:solidFill>
                  <a:srgbClr val="0F172A"/>
                </a:solidFill>
                <a:latin typeface="Calibri"/>
              </a:rPr>
              <a:t>Functional &amp; non-functional requirements</a:t>
            </a:r>
          </a:p>
          <a:p>
            <a:r>
              <a:rPr sz="1500">
                <a:solidFill>
                  <a:srgbClr val="0F172A"/>
                </a:solidFill>
                <a:latin typeface="Calibri"/>
              </a:rPr>
              <a:t>End users</a:t>
            </a:r>
          </a:p>
          <a:p>
            <a:r>
              <a:rPr sz="1500">
                <a:solidFill>
                  <a:srgbClr val="0F172A"/>
                </a:solidFill>
                <a:latin typeface="Calibri"/>
              </a:rPr>
              <a:t>ER design — entities, attributes, keys</a:t>
            </a:r>
          </a:p>
          <a:p>
            <a:r>
              <a:rPr sz="1500">
                <a:solidFill>
                  <a:srgbClr val="0F172A"/>
                </a:solidFill>
                <a:latin typeface="Calibri"/>
              </a:rPr>
              <a:t>ER → relational table mapping</a:t>
            </a:r>
          </a:p>
          <a:p>
            <a:r>
              <a:rPr sz="1500">
                <a:solidFill>
                  <a:srgbClr val="0F172A"/>
                </a:solidFill>
                <a:latin typeface="Calibri"/>
              </a:rPr>
              <a:t>Relationships &amp; cardinality</a:t>
            </a:r>
          </a:p>
          <a:p>
            <a:r>
              <a:rPr sz="1500">
                <a:solidFill>
                  <a:srgbClr val="0F172A"/>
                </a:solidFill>
                <a:latin typeface="Calibri"/>
              </a:rPr>
              <a:t>Normalization — 1NF, 2NF, 3NF</a:t>
            </a:r>
          </a:p>
          <a:p>
            <a:r>
              <a:rPr sz="1500">
                <a:solidFill>
                  <a:srgbClr val="0F172A"/>
                </a:solidFill>
                <a:latin typeface="Calibri"/>
              </a:rPr>
              <a:t>SQL implementation — DDL, data &amp; queries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200000" y="116632"/>
            <a:ext cx="97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Why This Project Is Needed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085" y="2000000"/>
            <a:ext cx="10515600" cy="4093295"/>
          </a:xfrm>
        </p:spPr>
        <p:txBody>
          <a:bodyPr>
            <a:normAutofit/>
          </a:bodyPr>
          <a:lstStyle/>
          <a:p>
            <a:r>
              <a:rPr lang="en-IN" sz="2000" dirty="0"/>
              <a:t>Manual inventory systems don’t scale as product quantity increases.</a:t>
            </a:r>
          </a:p>
          <a:p>
            <a:r>
              <a:rPr lang="en-IN" sz="2000" dirty="0"/>
              <a:t>A centralized database reduces duplicate and inconsistent records.</a:t>
            </a:r>
          </a:p>
          <a:p>
            <a:r>
              <a:rPr lang="en-IN" sz="2000" dirty="0"/>
              <a:t>Primary keys and foreign keys maintain relationships between inventory data.</a:t>
            </a:r>
          </a:p>
          <a:p>
            <a:r>
              <a:rPr lang="en-IN" sz="2000" dirty="0"/>
              <a:t>Provides administrators with a </a:t>
            </a:r>
            <a:r>
              <a:rPr lang="en-IN" sz="2000" dirty="0" err="1"/>
              <a:t>queryable</a:t>
            </a:r>
            <a:r>
              <a:rPr lang="en-IN" sz="2000" dirty="0"/>
              <a:t> view of products, stock, purchases and sales.</a:t>
            </a:r>
          </a:p>
          <a:p>
            <a:r>
              <a:rPr lang="en-IN" sz="2000" dirty="0"/>
              <a:t>Makes inventory transactions easier to track and audit.</a:t>
            </a:r>
          </a:p>
          <a:p>
            <a:r>
              <a:rPr lang="en-IN" sz="2000" dirty="0"/>
              <a:t>Helps identify low-stock products before they run out.</a:t>
            </a:r>
          </a:p>
        </p:txBody>
      </p:sp>
      <p:sp>
        <p:nvSpPr>
          <p:cNvPr id="20" name="Subtitle 6"/>
          <p:cNvSpPr txBox="1">
            <a:spLocks/>
          </p:cNvSpPr>
          <p:nvPr/>
        </p:nvSpPr>
        <p:spPr>
          <a:xfrm>
            <a:off x="869085" y="950000"/>
            <a:ext cx="105156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800" i="1" dirty="0">
                <a:solidFill>
                  <a:srgbClr val="595959"/>
                </a:solidFill>
              </a:rPr>
              <a:t>Justification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200000" y="116632"/>
            <a:ext cx="97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The Real-World Problem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085" y="2000000"/>
            <a:ext cx="10515600" cy="4093295"/>
          </a:xfrm>
        </p:spPr>
        <p:txBody>
          <a:bodyPr>
            <a:normAutofit/>
          </a:bodyPr>
          <a:lstStyle/>
          <a:p>
            <a:r>
              <a:rPr lang="en-IN" sz="2000" b="1" dirty="0"/>
              <a:t>Stock tracking errors</a:t>
            </a:r>
            <a:r>
              <a:rPr lang="en-IN" sz="2000" dirty="0"/>
              <a:t> — Manual records can result in incorrect stock quantities and outdated information.</a:t>
            </a:r>
          </a:p>
          <a:p>
            <a:r>
              <a:rPr lang="en-IN" sz="2000" b="1" dirty="0"/>
              <a:t>Overstocking &amp; stockouts</a:t>
            </a:r>
            <a:r>
              <a:rPr lang="en-IN" sz="2000" dirty="0"/>
              <a:t> — Without real-time stock monitoring, products may be over-purchased or become unavailable.</a:t>
            </a:r>
          </a:p>
          <a:p>
            <a:r>
              <a:rPr lang="en-IN" sz="2000" b="1" dirty="0"/>
              <a:t>Delayed purchase/sales tracking</a:t>
            </a:r>
            <a:r>
              <a:rPr lang="en-IN" sz="2000" dirty="0"/>
              <a:t> — Transactions recorded manually make it difficult to know current inventory status.</a:t>
            </a:r>
          </a:p>
          <a:p>
            <a:r>
              <a:rPr lang="en-IN" sz="2000" b="1" dirty="0"/>
              <a:t>Supplier information gaps</a:t>
            </a:r>
            <a:r>
              <a:rPr lang="en-IN" sz="2000" dirty="0"/>
              <a:t> — Supplier details and purchase history may be scattered across different records.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0" name="Subtitle 6"/>
          <p:cNvSpPr txBox="1">
            <a:spLocks/>
          </p:cNvSpPr>
          <p:nvPr/>
        </p:nvSpPr>
        <p:spPr>
          <a:xfrm>
            <a:off x="485982" y="1045275"/>
            <a:ext cx="105156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b="1" dirty="0"/>
              <a:t>                                                                Why manual inventory management breaks down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863752" y="116632"/>
            <a:ext cx="464347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Maintain a single record for every product.</a:t>
            </a:r>
          </a:p>
          <a:p>
            <a:r>
              <a:rPr lang="en-IN" sz="2400" dirty="0"/>
              <a:t>Track product quantity and availability.</a:t>
            </a:r>
          </a:p>
          <a:p>
            <a:r>
              <a:rPr lang="en-IN" sz="2400" dirty="0"/>
              <a:t>Manage supplier information.</a:t>
            </a:r>
          </a:p>
          <a:p>
            <a:r>
              <a:rPr lang="en-IN" sz="2400" dirty="0"/>
              <a:t>Record sales transactions.</a:t>
            </a:r>
          </a:p>
          <a:p>
            <a:r>
              <a:rPr lang="en-IN" sz="2400" dirty="0"/>
              <a:t>Identify low-stock products.</a:t>
            </a:r>
          </a:p>
          <a:p>
            <a:r>
              <a:rPr lang="en-IN" sz="2400" dirty="0"/>
              <a:t>Normalize the database to </a:t>
            </a:r>
            <a:r>
              <a:rPr lang="en-IN" sz="2400" b="1" dirty="0"/>
              <a:t>3NF</a:t>
            </a:r>
            <a:r>
              <a:rPr lang="en-IN" sz="2400" dirty="0"/>
              <a:t>.</a:t>
            </a:r>
          </a:p>
          <a:p>
            <a:r>
              <a:rPr lang="en-IN" sz="2400" dirty="0"/>
              <a:t>Use SQL queries, joins and aggregates for reporting.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sz="2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863752" y="116632"/>
            <a:ext cx="464347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Requirements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61876"/>
            <a:ext cx="5334000" cy="4531419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Functional</a:t>
            </a:r>
          </a:p>
          <a:p>
            <a:r>
              <a:rPr lang="en-IN" sz="1800" dirty="0"/>
              <a:t>Add, update and search products.</a:t>
            </a:r>
          </a:p>
          <a:p>
            <a:r>
              <a:rPr lang="en-IN" sz="1800" dirty="0"/>
              <a:t>Manage categories and suppliers.</a:t>
            </a:r>
          </a:p>
          <a:p>
            <a:r>
              <a:rPr lang="en-IN" sz="1800" dirty="0"/>
              <a:t>Check product availability.</a:t>
            </a:r>
          </a:p>
          <a:p>
            <a:r>
              <a:rPr lang="en-IN" sz="1800" dirty="0"/>
              <a:t>Generate inventory reports.</a:t>
            </a:r>
          </a:p>
          <a:p>
            <a:r>
              <a:rPr lang="en-IN" sz="1800" dirty="0"/>
              <a:t>Identify low-stock products.</a:t>
            </a:r>
          </a:p>
          <a:p>
            <a:r>
              <a:rPr lang="en-IN" sz="1800" dirty="0"/>
              <a:t>View transaction history.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21" name="Non-functional Box"/>
          <p:cNvSpPr txBox="1">
            <a:spLocks/>
          </p:cNvSpPr>
          <p:nvPr/>
        </p:nvSpPr>
        <p:spPr>
          <a:xfrm>
            <a:off x="6172200" y="1561876"/>
            <a:ext cx="5334000" cy="45314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75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Non-functional</a:t>
            </a:r>
          </a:p>
          <a:p>
            <a:r>
              <a:rPr lang="en-IN" sz="1600" b="1" dirty="0"/>
              <a:t>Data integrity</a:t>
            </a:r>
            <a:r>
              <a:rPr lang="en-IN" sz="1600" dirty="0"/>
              <a:t> — PK, FK constraints.</a:t>
            </a:r>
          </a:p>
          <a:p>
            <a:r>
              <a:rPr lang="en-IN" sz="1600" b="1" dirty="0"/>
              <a:t>Security</a:t>
            </a:r>
            <a:r>
              <a:rPr lang="en-IN" sz="1600" dirty="0"/>
              <a:t> — Controlled access to inventory data.</a:t>
            </a:r>
          </a:p>
          <a:p>
            <a:r>
              <a:rPr lang="en-IN" sz="1600" b="1" dirty="0"/>
              <a:t>Reliability</a:t>
            </a:r>
            <a:r>
              <a:rPr lang="en-IN" sz="1600" dirty="0"/>
              <a:t> — Accurate transaction processing.</a:t>
            </a:r>
          </a:p>
          <a:p>
            <a:r>
              <a:rPr lang="en-IN" sz="1600" b="1" dirty="0"/>
              <a:t>Performance</a:t>
            </a:r>
            <a:r>
              <a:rPr lang="en-IN" sz="1600" dirty="0"/>
              <a:t> — Fast product and stock searches.</a:t>
            </a:r>
          </a:p>
          <a:p>
            <a:r>
              <a:rPr lang="en-IN" sz="1600" b="1" dirty="0"/>
              <a:t>Usability</a:t>
            </a:r>
            <a:r>
              <a:rPr lang="en-IN" sz="1600" dirty="0"/>
              <a:t> — Simple interface for staff.</a:t>
            </a:r>
          </a:p>
          <a:p>
            <a:r>
              <a:rPr lang="en-IN" sz="1600" b="1" dirty="0"/>
              <a:t>Scalability</a:t>
            </a:r>
            <a:r>
              <a:rPr lang="en-IN" sz="1600" dirty="0"/>
              <a:t> — Supports increasing products and transactions.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863752" y="116632"/>
            <a:ext cx="4643470" cy="14452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Relational Schema</a:t>
            </a:r>
          </a:p>
          <a:p>
            <a:pPr algn="ctr"/>
            <a:endParaRPr lang="en-IN" sz="3400" b="1" dirty="0">
              <a:solidFill>
                <a:srgbClr val="0070C0"/>
              </a:solidFill>
              <a:latin typeface="Maiandra GD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356" y="1572572"/>
            <a:ext cx="11593288" cy="470619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Category  (</a:t>
            </a:r>
            <a:r>
              <a:rPr lang="en-IN" u="sng" dirty="0" err="1"/>
              <a:t>Category_ID</a:t>
            </a:r>
            <a:r>
              <a:rPr lang="en-IN" dirty="0"/>
              <a:t>, </a:t>
            </a:r>
            <a:r>
              <a:rPr lang="en-IN" dirty="0" err="1"/>
              <a:t>Category_Name</a:t>
            </a:r>
            <a:r>
              <a:rPr lang="en-IN" dirty="0"/>
              <a:t>, Description)</a:t>
            </a:r>
          </a:p>
          <a:p>
            <a:pPr marL="0" indent="0">
              <a:buNone/>
            </a:pPr>
            <a:r>
              <a:rPr lang="en-IN" dirty="0"/>
              <a:t>Supplier  (</a:t>
            </a:r>
            <a:r>
              <a:rPr lang="en-IN" u="sng" dirty="0" err="1"/>
              <a:t>Supplier_ID</a:t>
            </a:r>
            <a:r>
              <a:rPr lang="en-IN" u="sng" dirty="0"/>
              <a:t>, </a:t>
            </a:r>
            <a:r>
              <a:rPr lang="en-IN" dirty="0" err="1"/>
              <a:t>Supplier_Name</a:t>
            </a:r>
            <a:r>
              <a:rPr lang="en-IN" dirty="0"/>
              <a:t>, </a:t>
            </a:r>
            <a:r>
              <a:rPr lang="en-IN" dirty="0" err="1"/>
              <a:t>Contact_NO</a:t>
            </a:r>
            <a:r>
              <a:rPr lang="en-IN" dirty="0"/>
              <a:t>, Email</a:t>
            </a:r>
            <a:r>
              <a:rPr lang="en-IN" u="sng" dirty="0"/>
              <a:t>)</a:t>
            </a:r>
          </a:p>
          <a:p>
            <a:pPr marL="0" indent="0">
              <a:buNone/>
            </a:pPr>
            <a:r>
              <a:rPr lang="en-IN" dirty="0"/>
              <a:t>Customer  (</a:t>
            </a:r>
            <a:r>
              <a:rPr lang="en-IN" u="sng" dirty="0" err="1"/>
              <a:t>Customer_ID</a:t>
            </a:r>
            <a:r>
              <a:rPr lang="en-IN" dirty="0"/>
              <a:t>, Name, </a:t>
            </a:r>
            <a:r>
              <a:rPr lang="en-IN" dirty="0" err="1"/>
              <a:t>Contact_No</a:t>
            </a:r>
            <a:r>
              <a:rPr lang="en-IN" dirty="0"/>
              <a:t>, Email)</a:t>
            </a:r>
          </a:p>
          <a:p>
            <a:pPr marL="0" indent="0">
              <a:buNone/>
            </a:pPr>
            <a:r>
              <a:rPr lang="en-IN" dirty="0"/>
              <a:t>Purchase  (</a:t>
            </a:r>
            <a:r>
              <a:rPr lang="en-IN" dirty="0" err="1"/>
              <a:t>Purchase_ID</a:t>
            </a:r>
            <a:r>
              <a:rPr lang="en-IN" dirty="0"/>
              <a:t>, </a:t>
            </a:r>
            <a:r>
              <a:rPr lang="en-IN" dirty="0" err="1"/>
              <a:t>Supplier_ID</a:t>
            </a:r>
            <a:r>
              <a:rPr lang="en-IN" dirty="0"/>
              <a:t>(FK), </a:t>
            </a:r>
            <a:r>
              <a:rPr lang="en-IN" dirty="0" err="1"/>
              <a:t>Product_ID</a:t>
            </a:r>
            <a:r>
              <a:rPr lang="en-IN" dirty="0"/>
              <a:t>(FK), Quantity, </a:t>
            </a:r>
            <a:r>
              <a:rPr lang="en-IN" dirty="0" err="1"/>
              <a:t>Purchase_Date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Product  (</a:t>
            </a:r>
            <a:r>
              <a:rPr lang="en-IN" dirty="0" err="1"/>
              <a:t>Product_ID</a:t>
            </a:r>
            <a:r>
              <a:rPr lang="en-IN" dirty="0"/>
              <a:t>,  </a:t>
            </a:r>
            <a:r>
              <a:rPr lang="en-IN" dirty="0" err="1"/>
              <a:t>Product_Name</a:t>
            </a:r>
            <a:r>
              <a:rPr lang="en-IN" dirty="0"/>
              <a:t>,  </a:t>
            </a:r>
            <a:r>
              <a:rPr lang="en-IN" dirty="0" err="1"/>
              <a:t>Category_ID</a:t>
            </a:r>
            <a:r>
              <a:rPr lang="en-IN" dirty="0"/>
              <a:t>(FK), </a:t>
            </a:r>
            <a:r>
              <a:rPr lang="en-IN" dirty="0" err="1"/>
              <a:t>Supplier_ID</a:t>
            </a:r>
            <a:r>
              <a:rPr lang="en-IN" dirty="0"/>
              <a:t>(FK), Price, 	       </a:t>
            </a:r>
            <a:r>
              <a:rPr lang="en-IN" dirty="0" err="1"/>
              <a:t>Stock_Quantity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Sale  (</a:t>
            </a:r>
            <a:r>
              <a:rPr lang="en-IN" dirty="0" err="1"/>
              <a:t>Sale_ID</a:t>
            </a:r>
            <a:r>
              <a:rPr lang="en-IN" dirty="0"/>
              <a:t>, </a:t>
            </a:r>
            <a:r>
              <a:rPr lang="en-IN" dirty="0" err="1"/>
              <a:t>Customer_ID</a:t>
            </a:r>
            <a:r>
              <a:rPr lang="en-IN" dirty="0"/>
              <a:t>(FK), </a:t>
            </a:r>
            <a:r>
              <a:rPr lang="en-IN" dirty="0" err="1"/>
              <a:t>Product_ID</a:t>
            </a:r>
            <a:r>
              <a:rPr lang="en-IN" dirty="0"/>
              <a:t>(FK), Quantity, </a:t>
            </a:r>
            <a:r>
              <a:rPr lang="en-IN" dirty="0" err="1"/>
              <a:t>Sales_Date</a:t>
            </a:r>
            <a:r>
              <a:rPr lang="en-IN" dirty="0"/>
              <a:t>, </a:t>
            </a:r>
            <a:r>
              <a:rPr lang="en-IN" dirty="0" err="1"/>
              <a:t>Total_Amount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774265" y="523725"/>
            <a:ext cx="464347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Relationships &amp; Cardinality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50000"/>
            <a:ext cx="10820400" cy="4628770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30" name="Relationship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101854"/>
              </p:ext>
            </p:extLst>
          </p:nvPr>
        </p:nvGraphicFramePr>
        <p:xfrm>
          <a:off x="685800" y="1650000"/>
          <a:ext cx="10820400" cy="40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Relationship</a:t>
                      </a:r>
                    </a:p>
                  </a:txBody>
                  <a:tcPr marL="68580" marR="68580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Cardinality</a:t>
                      </a:r>
                    </a:p>
                  </a:txBody>
                  <a:tcPr marL="68580" marR="68580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Justification</a:t>
                      </a:r>
                    </a:p>
                  </a:txBody>
                  <a:tcPr marL="68580" marR="68580" marT="27432" marB="27432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Category — Product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1:M</a:t>
                      </a:r>
                      <a:endParaRPr lang="en-IN">
                        <a:effectLst/>
                      </a:endParaRP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One category can contain many products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Supplier — Product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1:M</a:t>
                      </a:r>
                      <a:endParaRPr lang="en-IN">
                        <a:effectLst/>
                      </a:endParaRP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One supplier can supply many products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Supplier — Purchase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1:M</a:t>
                      </a:r>
                      <a:endParaRPr lang="en-IN">
                        <a:effectLst/>
                      </a:endParaRP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One supplier can have many purchases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Product — Purchase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1:M</a:t>
                      </a:r>
                      <a:endParaRPr lang="en-IN">
                        <a:effectLst/>
                      </a:endParaRP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A product can appear in many purchase records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Customer — Sale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1:M</a:t>
                      </a:r>
                      <a:endParaRPr lang="en-IN">
                        <a:effectLst/>
                      </a:endParaRP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One customer can make many purchases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Product — Sale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1:M</a:t>
                      </a:r>
                      <a:endParaRPr lang="en-IN">
                        <a:effectLst/>
                      </a:endParaRP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A product can appear in many sales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A51A44-45DA-9B7C-0D00-C5A4B5D3F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290"/>
            <a:ext cx="10515600" cy="453141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4000" b="1" dirty="0"/>
              <a:t>Database Operations</a:t>
            </a:r>
          </a:p>
          <a:p>
            <a:r>
              <a:rPr lang="en-IN" b="1" dirty="0"/>
              <a:t>INSERT</a:t>
            </a:r>
          </a:p>
          <a:p>
            <a:r>
              <a:rPr lang="en-IN" dirty="0"/>
              <a:t>Add new products, suppliers and customers.</a:t>
            </a:r>
          </a:p>
          <a:p>
            <a:r>
              <a:rPr lang="en-IN" b="1" dirty="0"/>
              <a:t>SELECT</a:t>
            </a:r>
          </a:p>
          <a:p>
            <a:r>
              <a:rPr lang="en-IN" dirty="0"/>
              <a:t>Retrieve available products and stock information.</a:t>
            </a:r>
          </a:p>
          <a:p>
            <a:r>
              <a:rPr lang="en-IN" b="1" dirty="0"/>
              <a:t>UPDATE</a:t>
            </a:r>
          </a:p>
          <a:p>
            <a:r>
              <a:rPr lang="en-IN" dirty="0"/>
              <a:t>Update product price or stock quantity.</a:t>
            </a:r>
          </a:p>
          <a:p>
            <a:r>
              <a:rPr lang="en-IN" b="1" dirty="0"/>
              <a:t>DELETE</a:t>
            </a:r>
          </a:p>
          <a:p>
            <a:r>
              <a:rPr lang="en-IN" dirty="0"/>
              <a:t>Remove obsolete records.</a:t>
            </a:r>
          </a:p>
          <a:p>
            <a:r>
              <a:rPr lang="en-IN" b="1" dirty="0"/>
              <a:t>JOIN</a:t>
            </a:r>
          </a:p>
          <a:p>
            <a:r>
              <a:rPr lang="en-IN" dirty="0"/>
              <a:t>Combine product, supplier and transaction information.</a:t>
            </a:r>
          </a:p>
          <a:p>
            <a:r>
              <a:rPr lang="en-IN" b="1" dirty="0"/>
              <a:t>AGGREGATE</a:t>
            </a:r>
          </a:p>
          <a:p>
            <a:r>
              <a:rPr lang="en-IN" dirty="0"/>
              <a:t>Calculate total sales, purchases and stock values.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5DC525-8D98-F574-F0FE-AF4E7C486E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30/09/26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0D13F7-E98F-937A-0F70-268FF12D7B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8B1C6-907C-0884-040C-83B2A638601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263722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1720" y="146304"/>
            <a:ext cx="9326880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0070C0"/>
                </a:solidFill>
                <a:latin typeface="Maiandra GD"/>
              </a:rPr>
              <a:t>ER Model → Relational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96112"/>
            <a:ext cx="10195560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595959"/>
                </a:solidFill>
                <a:latin typeface="Calibri"/>
              </a:rPr>
              <a:t>Two entities + one relationship set from the main ER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5074920" cy="3703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46542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5B95C"/>
                </a:solidFill>
                <a:latin typeface="Calibri"/>
              </a:rPr>
              <a:t>Selected ER fragment — Customer Places Sale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606040"/>
            <a:ext cx="1417320" cy="5303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73405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 i="0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8" name="Diamond 7"/>
          <p:cNvSpPr/>
          <p:nvPr/>
        </p:nvSpPr>
        <p:spPr>
          <a:xfrm>
            <a:off x="2514600" y="2587752"/>
            <a:ext cx="1188720" cy="566928"/>
          </a:xfrm>
          <a:prstGeom prst="diamond">
            <a:avLst/>
          </a:prstGeom>
          <a:solidFill>
            <a:srgbClr val="F5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14600" y="273405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Places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2606040"/>
            <a:ext cx="1417320" cy="5303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273405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 i="0">
                <a:solidFill>
                  <a:srgbClr val="FFFFFF"/>
                </a:solidFill>
                <a:latin typeface="Calibri"/>
              </a:rPr>
              <a:t>Sale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2871216"/>
            <a:ext cx="228600" cy="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03320" y="2871216"/>
            <a:ext cx="182880" cy="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176272" y="233172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29000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 i="0">
                <a:solidFill>
                  <a:srgbClr val="E5E7EB"/>
                </a:solidFill>
                <a:latin typeface="Calibri"/>
              </a:rPr>
              <a:t>Relationship set: Places
Cardinality: Customer 1 → M Sale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69080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40" b="0" i="0">
                <a:solidFill>
                  <a:srgbClr val="CBD5E1"/>
                </a:solidFill>
                <a:latin typeface="Calibri"/>
              </a:rPr>
              <a:t>Rule for 1:M: place the foreign key on the M-side relation. Customer_ID therefore appears in SALE.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1554480"/>
            <a:ext cx="5788152" cy="3703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08192" y="1737360"/>
            <a:ext cx="53675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5B95C"/>
                </a:solidFill>
                <a:latin typeface="Calibri"/>
              </a:rPr>
              <a:t>Relational 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195681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5B95C"/>
                </a:solidFill>
                <a:latin typeface="Calibri"/>
              </a:rPr>
              <a:t>CUSTOMER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108192" y="2231136"/>
          <a:ext cx="534924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704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F172A"/>
                          </a:solidFill>
                          <a:latin typeface="Calibri"/>
                        </a:rPr>
                        <a:t>Customer_ID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F172A"/>
                          </a:solidFill>
                          <a:latin typeface="Calibri"/>
                        </a:rPr>
                        <a:t>PK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F172A"/>
                          </a:solidFill>
                          <a:latin typeface="Calibri"/>
                        </a:rPr>
                        <a:t>Name / Contact_No / Email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F17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144768" y="332841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5B95C"/>
                </a:solidFill>
                <a:latin typeface="Calibri"/>
              </a:rPr>
              <a:t>SALE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08192" y="3602736"/>
          <a:ext cx="534924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892"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0F172A"/>
                          </a:solidFill>
                          <a:latin typeface="Calibri"/>
                        </a:rPr>
                        <a:t>Sale_ID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0F172A"/>
                          </a:solidFill>
                          <a:latin typeface="Calibri"/>
                        </a:rPr>
                        <a:t>PK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0F172A"/>
                          </a:solidFill>
                          <a:latin typeface="Calibri"/>
                        </a:rPr>
                        <a:t>Customer_ID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0F172A"/>
                          </a:solidFill>
                          <a:latin typeface="Calibri"/>
                        </a:rPr>
                        <a:t>FK → CUSTOMER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0F172A"/>
                          </a:solidFill>
                          <a:latin typeface="Calibri"/>
                        </a:rPr>
                        <a:t>Product_ID / Quantity / Sales_Date / Total_Amount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0F17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144768" y="4919472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0" b="0" i="1">
                <a:solidFill>
                  <a:srgbClr val="86EFAC"/>
                </a:solidFill>
                <a:latin typeface="Calibri"/>
              </a:rPr>
              <a:t>Places is represented by SALE.Customer_ID; no separate table is needed for this 1:M relationship.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35508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Entity-Relationship Diagram</a:t>
            </a:r>
          </a:p>
        </p:txBody>
      </p:sp>
      <p:sp>
        <p:nvSpPr>
          <p:cNvPr id="20" name="Subtitle 6"/>
          <p:cNvSpPr txBox="1">
            <a:spLocks/>
          </p:cNvSpPr>
          <p:nvPr/>
        </p:nvSpPr>
        <p:spPr>
          <a:xfrm>
            <a:off x="1919536" y="2636912"/>
            <a:ext cx="105156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endParaRPr lang="en-US" sz="1800" i="1" dirty="0">
              <a:solidFill>
                <a:srgbClr val="595959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7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B260850-9B9A-35BD-1E93-170F09FD52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544" y="1052736"/>
            <a:ext cx="8280919" cy="504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23317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sz="2600" b="1">
                <a:solidFill>
                  <a:srgbClr val="0070C0"/>
                </a:solidFill>
                <a:latin typeface="Maiandra GD"/>
              </a:rPr>
              <a:t>Why Normalize? — Anomalies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sz="1500" i="1">
                <a:solidFill>
                  <a:srgbClr val="595959"/>
                </a:solidFill>
                <a:latin typeface="Calibri"/>
              </a:rPr>
              <a:t>One flat record can repeat the same customer and product facts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12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1554480"/>
            <a:ext cx="5074920" cy="3383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3232" y="1737360"/>
            <a:ext cx="46542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5B95C"/>
                </a:solidFill>
                <a:latin typeface="Calibri"/>
              </a:rPr>
              <a:t>Unnormalized design (UNF) — repeating 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202996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0" i="0">
                <a:solidFill>
                  <a:srgbClr val="E5E7EB"/>
                </a:solidFill>
                <a:latin typeface="Consolas"/>
              </a:rPr>
              <a:t>SALE_UNF(
  sale_id, customer_id, customer_name,
  {product_id, product_name, quantity, price, total_amount}
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2907792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BD5E1"/>
                </a:solidFill>
                <a:latin typeface="Calibri"/>
              </a:rPr>
              <a:t>{ … } represents a repeating product group stored inside one sale record.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3584448"/>
            <a:ext cx="4526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5B95C"/>
                </a:solidFill>
                <a:latin typeface="Calibri"/>
              </a:rPr>
              <a:t>Goal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3904487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E5E7EB"/>
                </a:solidFill>
                <a:latin typeface="Calibri"/>
              </a:rPr>
              <a:t>Make each value atomic and give each product occurrence its own row.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97880" y="1554480"/>
            <a:ext cx="5788152" cy="3383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08192" y="1737360"/>
            <a:ext cx="53675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5B95C"/>
                </a:solidFill>
                <a:latin typeface="Calibri"/>
              </a:rPr>
              <a:t>Anomalies in the flat 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44768" y="2011680"/>
            <a:ext cx="5166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9A9A"/>
                </a:solidFill>
                <a:latin typeface="Calibri"/>
              </a:rPr>
              <a:t>Insertion anomaly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4768" y="2276856"/>
            <a:ext cx="51663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Product details are difficult to store independently when no sale exists.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44768" y="2779776"/>
            <a:ext cx="5166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9A9A"/>
                </a:solidFill>
                <a:latin typeface="Calibri"/>
              </a:rPr>
              <a:t>Update anomaly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3044952"/>
            <a:ext cx="51663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Repeated customer or product facts may need several changes.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4768" y="3547872"/>
            <a:ext cx="5166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9A9A"/>
                </a:solidFill>
                <a:latin typeface="Calibri"/>
              </a:rPr>
              <a:t>Deletion anomaly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768" y="3813048"/>
            <a:ext cx="5166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Deleting the last sale containing a product can remove the only stored product facts.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4768" y="4480560"/>
            <a:ext cx="5166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86EFAC"/>
                </a:solidFill>
                <a:latin typeface="Calibri"/>
              </a:rPr>
              <a:t>Next: decompose into 1NF → 2NF → 3NF.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>
                <a:solidFill>
                  <a:srgbClr val="0070C0"/>
                </a:solidFill>
                <a:latin typeface="Maiandra GD" pitchFamily="34" charset="0"/>
              </a:rPr>
              <a:t>SQL Table Creation (1/2)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IN" sz="1500" i="1">
                <a:solidFill>
                  <a:srgbClr val="595959"/>
                </a:solidFill>
              </a:rPr>
              <a:t>Master tables first — customers, categorys, suppliers; then products and sales with their foreign keys</a:t>
            </a:r>
          </a:p>
        </p:txBody>
      </p:sp>
      <p:sp>
        <p:nvSpPr>
          <p:cNvPr id="111" name="Panel111"/>
          <p:cNvSpPr/>
          <p:nvPr/>
        </p:nvSpPr>
        <p:spPr>
          <a:xfrm>
            <a:off x="650000" y="1500000"/>
            <a:ext cx="5450000" cy="44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>
                <a:solidFill>
                  <a:srgbClr val="F5B95C"/>
                </a:solidFill>
                <a:latin typeface="Calibri"/>
                <a:cs typeface="Calibri"/>
              </a:rPr>
              <a:t>Master table — customers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CREATE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TABLE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customers (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customer_id   NUMBER,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customer_name VARCHAR2(50),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CONSTRAINT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customers_pk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PRIMARY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KEY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(customer_id)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8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500" b="1">
                <a:solidFill>
                  <a:srgbClr val="F5B95C"/>
                </a:solidFill>
                <a:latin typeface="Calibri"/>
                <a:cs typeface="Calibri"/>
              </a:rPr>
              <a:t>Master table — categorys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CREATE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TABLE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categorys (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category_id   NUMBER,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category_name VARCHAR2(30),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CONSTRAINT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categorys_pk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PRIMARY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KEY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(category_id)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112" name="Panel112"/>
          <p:cNvSpPr/>
          <p:nvPr/>
        </p:nvSpPr>
        <p:spPr>
          <a:xfrm>
            <a:off x="6250000" y="1500000"/>
            <a:ext cx="5300000" cy="44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>
                <a:solidFill>
                  <a:srgbClr val="F5B95C"/>
                </a:solidFill>
                <a:latin typeface="Calibri"/>
                <a:cs typeface="Calibri"/>
              </a:rPr>
              <a:t>Master table — suppliers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CREATE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TABLE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suppliers (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supplier_id   NUMBER,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supplier_name VARCHAR2(50),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CONSTRAINT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suppliers_pk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PRIMARY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KEY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(supplier_id)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8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 i="1">
                <a:solidFill>
                  <a:srgbClr val="7CB88F"/>
                </a:solidFill>
                <a:latin typeface="Consolas"/>
                <a:cs typeface="Consolas"/>
              </a:rPr>
              <a:t>-- Master tables carry no foreign keys,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 i="1">
                <a:solidFill>
                  <a:srgbClr val="7CB88F"/>
                </a:solidFill>
                <a:latin typeface="Consolas"/>
                <a:cs typeface="Consolas"/>
              </a:rPr>
              <a:t>-- so they are created first.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 i="1">
                <a:solidFill>
                  <a:srgbClr val="7CB88F"/>
                </a:solidFill>
                <a:latin typeface="Consolas"/>
                <a:cs typeface="Consolas"/>
              </a:rPr>
              <a:t>-- products and sales reference their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 i="1">
                <a:solidFill>
                  <a:srgbClr val="7CB88F"/>
                </a:solidFill>
                <a:latin typeface="Consolas"/>
                <a:cs typeface="Consolas"/>
              </a:rPr>
              <a:t>-- primary keys.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>
                <a:solidFill>
                  <a:srgbClr val="0070C0"/>
                </a:solidFill>
                <a:latin typeface="Maiandra GD" pitchFamily="34" charset="0"/>
              </a:rPr>
              <a:t>SQL Table Creation (2/2)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IN" sz="1500" i="1">
                <a:solidFill>
                  <a:srgbClr val="595959"/>
                </a:solidFill>
              </a:rPr>
              <a:t>Products and sales — 4 foreign keys tie all 5 tables together</a:t>
            </a:r>
          </a:p>
        </p:txBody>
      </p:sp>
      <p:sp>
        <p:nvSpPr>
          <p:cNvPr id="113" name="Panel113"/>
          <p:cNvSpPr/>
          <p:nvPr/>
        </p:nvSpPr>
        <p:spPr>
          <a:xfrm>
            <a:off x="650000" y="1500000"/>
            <a:ext cx="5450000" cy="44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>
                <a:solidFill>
                  <a:srgbClr val="F5B95C"/>
                </a:solidFill>
                <a:latin typeface="Calibri"/>
                <a:cs typeface="Calibri"/>
              </a:rPr>
              <a:t>Core entity — products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CREATE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TABLE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products (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product_id   NUMBER,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product_name VARCHAR2(50),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category_id  NUMBER,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supplier_id  NUMBER,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price        NUMBER(10,2),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CONSTRAINT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products_pk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PRIMARY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KEY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(product_id),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CONSTRAINT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products_category_fk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FOREIGN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KEY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(category_id)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REFERENCES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categorys(category_id),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CONSTRAINT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products_supplier_fk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FOREIGN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KEY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(supplier_id)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REFERENCES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suppliers(supplier_id)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114" name="Panel114"/>
          <p:cNvSpPr/>
          <p:nvPr/>
        </p:nvSpPr>
        <p:spPr>
          <a:xfrm>
            <a:off x="6250000" y="1500000"/>
            <a:ext cx="5300000" cy="44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>
                <a:solidFill>
                  <a:srgbClr val="F5B95C"/>
                </a:solidFill>
                <a:latin typeface="Calibri"/>
                <a:cs typeface="Calibri"/>
              </a:rPr>
              <a:t>Transaction — sales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CREATE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TABLE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sales (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sale_id      NUMBER,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customer_id  NUMBER,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product_id   NUMBER,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quantity     NUMBER,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total_amount NUMBER(10,2),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CONSTRAINT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sales_pk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PRIMARY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KEY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(sale_id),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CONSTRAINT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sales_customer_fk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FOREIGN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KEY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(customer_id)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REFERENCES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customers(customer_id),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CONSTRAINT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sales_product_fk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FOREIGN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KEY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(product_id)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   </a:t>
            </a:r>
            <a:r>
              <a:rPr lang="en-US" sz="1300" b="1">
                <a:solidFill>
                  <a:srgbClr val="F5B95C"/>
                </a:solidFill>
                <a:latin typeface="Consolas"/>
                <a:cs typeface="Consolas"/>
              </a:rPr>
              <a:t>REFERENCES</a:t>
            </a: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 products(product_id)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E5E7EB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>
                <a:solidFill>
                  <a:srgbClr val="0070C0"/>
                </a:solidFill>
                <a:latin typeface="Maiandra GD" pitchFamily="34" charset="0"/>
              </a:rPr>
              <a:t>Populating the Schema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IN" sz="1500" i="1">
                <a:solidFill>
                  <a:srgbClr val="595959"/>
                </a:solidFill>
              </a:rPr>
              <a:t>Flat sales_data loaded first, then decomposed into the 5 normalized tables</a:t>
            </a:r>
          </a:p>
        </p:txBody>
      </p:sp>
      <p:sp>
        <p:nvSpPr>
          <p:cNvPr id="115" name="Panel115"/>
          <p:cNvSpPr/>
          <p:nvPr/>
        </p:nvSpPr>
        <p:spPr>
          <a:xfrm>
            <a:off x="650000" y="1500000"/>
            <a:ext cx="6700000" cy="44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>
                <a:solidFill>
                  <a:srgbClr val="F5B95C"/>
                </a:solidFill>
                <a:latin typeface="Calibri"/>
                <a:cs typeface="Calibri"/>
              </a:rPr>
              <a:t>Sample INSERT statements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INSERT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INTO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sales_data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VALUES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(1, 1, 'Ravi Kumar', 1,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'Laptop', 'Electronics',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'ABC Traders', 1, 55000, 55000);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25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INSERT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INTO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categorys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VALUES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(1, 'Electronics');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INSERT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INTO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suppliers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VALUES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(1, 'ABC Traders');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INSERT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INTO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customers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VALUES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(1, 'Ravi Kumar');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25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INSERT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INTO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products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VALUES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(1, 'Laptop', 1, 1, 55000);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25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INSERT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INTO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sales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VALUES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(1, 1, 1, 1, 55000);</a:t>
            </a:r>
          </a:p>
        </p:txBody>
      </p:sp>
      <p:sp>
        <p:nvSpPr>
          <p:cNvPr id="116" name="Panel116"/>
          <p:cNvSpPr/>
          <p:nvPr/>
        </p:nvSpPr>
        <p:spPr>
          <a:xfrm>
            <a:off x="7500000" y="1500000"/>
            <a:ext cx="4050000" cy="44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>
                <a:solidFill>
                  <a:srgbClr val="F5B95C"/>
                </a:solidFill>
                <a:latin typeface="Calibri"/>
                <a:cs typeface="Calibri"/>
              </a:rPr>
              <a:t>Rows loaded per table</a:t>
            </a:r>
          </a:p>
          <a:p>
            <a:pPr marL="200000" indent="-200000">
              <a:lnSpc>
                <a:spcPct val="120000"/>
              </a:lnSpc>
              <a:buFont typeface="Arial"/>
              <a:buChar char="•"/>
            </a:pPr>
            <a:r>
              <a:rPr lang="en-US" sz="1350">
                <a:solidFill>
                  <a:srgbClr val="E5E7EB"/>
                </a:solidFill>
                <a:latin typeface="Calibri"/>
                <a:cs typeface="Calibri"/>
              </a:rPr>
              <a:t>sales_data — 15 rows (flat UNF source)</a:t>
            </a:r>
          </a:p>
          <a:p>
            <a:pPr marL="200000" indent="-200000">
              <a:lnSpc>
                <a:spcPct val="120000"/>
              </a:lnSpc>
              <a:buFont typeface="Arial"/>
              <a:buChar char="•"/>
            </a:pPr>
            <a:r>
              <a:rPr lang="en-US" sz="1350">
                <a:solidFill>
                  <a:srgbClr val="E5E7EB"/>
                </a:solidFill>
                <a:latin typeface="Calibri"/>
                <a:cs typeface="Calibri"/>
              </a:rPr>
              <a:t>customers — 5 rows</a:t>
            </a:r>
          </a:p>
          <a:p>
            <a:pPr marL="200000" indent="-200000">
              <a:lnSpc>
                <a:spcPct val="120000"/>
              </a:lnSpc>
              <a:buFont typeface="Arial"/>
              <a:buChar char="•"/>
            </a:pPr>
            <a:r>
              <a:rPr lang="en-US" sz="1350">
                <a:solidFill>
                  <a:srgbClr val="E5E7EB"/>
                </a:solidFill>
                <a:latin typeface="Calibri"/>
                <a:cs typeface="Calibri"/>
              </a:rPr>
              <a:t>categorys — 5 rows</a:t>
            </a:r>
          </a:p>
          <a:p>
            <a:pPr marL="200000" indent="-200000">
              <a:lnSpc>
                <a:spcPct val="120000"/>
              </a:lnSpc>
              <a:buFont typeface="Arial"/>
              <a:buChar char="•"/>
            </a:pPr>
            <a:r>
              <a:rPr lang="en-US" sz="1350">
                <a:solidFill>
                  <a:srgbClr val="E5E7EB"/>
                </a:solidFill>
                <a:latin typeface="Calibri"/>
                <a:cs typeface="Calibri"/>
              </a:rPr>
              <a:t>suppliers — 5 rows</a:t>
            </a:r>
          </a:p>
          <a:p>
            <a:pPr marL="200000" indent="-200000">
              <a:lnSpc>
                <a:spcPct val="120000"/>
              </a:lnSpc>
              <a:buFont typeface="Arial"/>
              <a:buChar char="•"/>
            </a:pPr>
            <a:r>
              <a:rPr lang="en-US" sz="1350">
                <a:solidFill>
                  <a:srgbClr val="E5E7EB"/>
                </a:solidFill>
                <a:latin typeface="Calibri"/>
                <a:cs typeface="Calibri"/>
              </a:rPr>
              <a:t>products — 15 rows</a:t>
            </a:r>
          </a:p>
          <a:p>
            <a:pPr marL="200000" indent="-200000">
              <a:lnSpc>
                <a:spcPct val="120000"/>
              </a:lnSpc>
              <a:buFont typeface="Arial"/>
              <a:buChar char="•"/>
            </a:pPr>
            <a:r>
              <a:rPr lang="en-US" sz="1350">
                <a:solidFill>
                  <a:srgbClr val="E5E7EB"/>
                </a:solidFill>
                <a:latin typeface="Calibri"/>
                <a:cs typeface="Calibri"/>
              </a:rPr>
              <a:t>sales — 15 rows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50">
                <a:solidFill>
                  <a:srgbClr val="E5E7EB"/>
                </a:solidFill>
                <a:latin typeface="Calibri"/>
                <a:cs typeface="Calibri"/>
              </a:rPr>
              <a:t>60 records in total, loaded with INSERT statements.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23317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sz="2550" b="1">
                <a:solidFill>
                  <a:srgbClr val="0070C0"/>
                </a:solidFill>
                <a:latin typeface="Maiandra GD"/>
              </a:rPr>
              <a:t>Table Data — Flat Sales_Data (Source)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IN" sz="1500" i="1">
                <a:solidFill>
                  <a:srgbClr val="595959"/>
                </a:solidFill>
              </a:rPr>
              <a:t>SELECT * output of the single flat table before normalization</a:t>
            </a:r>
          </a:p>
        </p:txBody>
      </p:sp>
      <p:sp>
        <p:nvSpPr>
          <p:cNvPr id="117" name="Panel117"/>
          <p:cNvSpPr/>
          <p:nvPr/>
        </p:nvSpPr>
        <p:spPr>
          <a:xfrm>
            <a:off x="457200" y="1554480"/>
            <a:ext cx="11277600" cy="322935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>
                <a:solidFill>
                  <a:srgbClr val="F5B95C"/>
                </a:solidFill>
                <a:latin typeface="Calibri"/>
                <a:cs typeface="Calibri"/>
              </a:rPr>
              <a:t>sales_data  (15 rows)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50" b="1">
                <a:solidFill>
                  <a:srgbClr val="F5B95C"/>
                </a:solidFill>
                <a:latin typeface="Consolas"/>
                <a:cs typeface="Consolas"/>
              </a:rPr>
              <a:t>SALE_ID  CUSTOMER_ID  CUSTOMER_NAME  PRODUCT_ID  PRODUCT_NAME    CATEGORY_NAME  SUPPLIER_NAME     QUANTITY  PRICE  TOTAL_AMOUNT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50">
                <a:solidFill>
                  <a:srgbClr val="9CA3AF"/>
                </a:solidFill>
                <a:latin typeface="Consolas"/>
                <a:cs typeface="Consolas"/>
              </a:rPr>
              <a:t>-------  -----------  -------------  ----------  ------------    -------------  -------------     --------  -----  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cs typeface="Consolas"/>
              </a:rPr>
              <a:t>1        1            Ravi Kumar     1           Laptop          Electronics    ABC Traders       1         55000  55000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cs typeface="Consolas"/>
              </a:rPr>
              <a:t>2        2            Priya Sharma   2           Rice Bag 25kg   Groceries      Global Supplies   2         1200   2400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cs typeface="Consolas"/>
              </a:rPr>
              <a:t>3        3            Amit Singh     3           Office Chair    Furniture      Metro Distr.      1         3500   3500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cs typeface="Consolas"/>
              </a:rPr>
              <a:t>4        4            Sneha Reddy    4           Notebook Pack   Stationery     Prime Vendors     5         250    1250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cs typeface="Consolas"/>
              </a:rPr>
              <a:t>5        5            John Mathew    5           T-Shirt         Clothing       Sunrise Whlsle    3         400    1200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cs typeface="Consolas"/>
              </a:rPr>
              <a:t>6        1            Ravi Kumar     6           Mouse           Electronics    ABC Traders       2         500    1000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cs typeface="Consolas"/>
              </a:rPr>
              <a:t>7        2            Priya Sharma   7           Wheat Bag 10kg  Groceries      Global Supplies   1         450    450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cs typeface="Consolas"/>
              </a:rPr>
              <a:t>8        3            Amit Singh     8           Study Table     Furniture      Metro Distr.      1         4200   4200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cs typeface="Consolas"/>
              </a:rPr>
              <a:t>9        4            Sneha Reddy    9           Pen Pack        Stationery     Prime Vendors     10        100    1000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cs typeface="Consolas"/>
              </a:rPr>
              <a:t>10       5            John Mathew    10          Jeans           Clothing       Sunrise Whlsle    2         900    1800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cs typeface="Consolas"/>
              </a:rPr>
              <a:t>11       1            Ravi Kumar     11          Keyboard        Electronics    ABC Traders       1         800    800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cs typeface="Consolas"/>
              </a:rPr>
              <a:t>12       2            Priya Sharma   12          Sugar Bag 5kg   Groceries      Global Supplies   3         220    660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cs typeface="Consolas"/>
              </a:rPr>
              <a:t>13       3            Amit Singh     13          Bookshelf       Furniture      Metro Distr.      1         2800   2800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cs typeface="Consolas"/>
              </a:rPr>
              <a:t>14       4            Sneha Reddy    14          Stapler         Stationery     Prime Vendors     4         150    600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cs typeface="Consolas"/>
              </a:rPr>
              <a:t>15       5            John Mathew    15          Jacket          Clothing       Sunrise Whlsle    1         1500   1500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5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Table Data — Master Tables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IN" sz="1500" i="1">
                <a:solidFill>
                  <a:srgbClr val="595959"/>
                </a:solidFill>
              </a:rPr>
              <a:t>The master tables that hold customer, category and supplier details once</a:t>
            </a:r>
          </a:p>
        </p:txBody>
      </p:sp>
      <p:sp>
        <p:nvSpPr>
          <p:cNvPr id="118" name="Panel118"/>
          <p:cNvSpPr/>
          <p:nvPr/>
        </p:nvSpPr>
        <p:spPr>
          <a:xfrm>
            <a:off x="457200" y="1554480"/>
            <a:ext cx="5440680" cy="363016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>
                <a:solidFill>
                  <a:srgbClr val="F5B95C"/>
                </a:solidFill>
                <a:latin typeface="Calibri"/>
                <a:cs typeface="Calibri"/>
              </a:rPr>
              <a:t>customers  (5 rows)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b="1">
                <a:solidFill>
                  <a:srgbClr val="F5B95C"/>
                </a:solidFill>
                <a:latin typeface="Consolas"/>
                <a:cs typeface="Consolas"/>
              </a:rPr>
              <a:t>CUSTOMER_ID  CUSTOMER_NAME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9CA3AF"/>
                </a:solidFill>
                <a:latin typeface="Consolas"/>
                <a:cs typeface="Consolas"/>
              </a:rPr>
              <a:t>-----------  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1            Ravi Kumar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2            Priya Sharma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3            Amit Singh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4            Sneha Reddy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5            John Mathew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i="1">
                <a:solidFill>
                  <a:srgbClr val="9CA3AF"/>
                </a:solidFill>
                <a:latin typeface="Consolas"/>
                <a:cs typeface="Consolas"/>
              </a:rPr>
              <a:t>5 rows selected.</a:t>
            </a:r>
          </a:p>
        </p:txBody>
      </p:sp>
      <p:sp>
        <p:nvSpPr>
          <p:cNvPr id="119" name="Panel119"/>
          <p:cNvSpPr/>
          <p:nvPr/>
        </p:nvSpPr>
        <p:spPr>
          <a:xfrm>
            <a:off x="6217920" y="1554480"/>
            <a:ext cx="5440680" cy="363016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>
                <a:solidFill>
                  <a:srgbClr val="F5B95C"/>
                </a:solidFill>
                <a:latin typeface="Calibri"/>
                <a:cs typeface="Calibri"/>
              </a:rPr>
              <a:t>categorys  (5 rows)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b="1">
                <a:solidFill>
                  <a:srgbClr val="F5B95C"/>
                </a:solidFill>
                <a:latin typeface="Consolas"/>
                <a:cs typeface="Consolas"/>
              </a:rPr>
              <a:t>CATEGORY_ID  CATEGORY_NAME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9CA3AF"/>
                </a:solidFill>
                <a:latin typeface="Consolas"/>
                <a:cs typeface="Consolas"/>
              </a:rPr>
              <a:t>-----------  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1            Electronics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2            Groceries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3            Furniture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4            Stationery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5            Clothing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i="1">
                <a:solidFill>
                  <a:srgbClr val="9CA3AF"/>
                </a:solidFill>
                <a:latin typeface="Consolas"/>
                <a:cs typeface="Consolas"/>
              </a:rPr>
              <a:t>5 rows selected.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300" b="1">
                <a:solidFill>
                  <a:srgbClr val="F5B95C"/>
                </a:solidFill>
                <a:latin typeface="Calibri"/>
                <a:cs typeface="Calibri"/>
              </a:rPr>
              <a:t>suppliers  (5 rows)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b="1">
                <a:solidFill>
                  <a:srgbClr val="F5B95C"/>
                </a:solidFill>
                <a:latin typeface="Consolas"/>
                <a:cs typeface="Consolas"/>
              </a:rPr>
              <a:t>SUPPLIER_ID  SUPPLIER_NAME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9CA3AF"/>
                </a:solidFill>
                <a:latin typeface="Consolas"/>
                <a:cs typeface="Consolas"/>
              </a:rPr>
              <a:t>-----------  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1            ABC Traders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2            Global Supplies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3            Metro Distributors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4            Prime Vendors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5            Sunrise Wholesale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i="1">
                <a:solidFill>
                  <a:srgbClr val="9CA3AF"/>
                </a:solidFill>
                <a:latin typeface="Consolas"/>
                <a:cs typeface="Consolas"/>
              </a:rPr>
              <a:t>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Table Data — Products &amp; Sales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IN" sz="1500" i="1">
                <a:solidFill>
                  <a:srgbClr val="595959"/>
                </a:solidFill>
              </a:rPr>
              <a:t>Products link to categorys and suppliers; sales link to customers and products</a:t>
            </a:r>
          </a:p>
        </p:txBody>
      </p:sp>
      <p:sp>
        <p:nvSpPr>
          <p:cNvPr id="120" name="Panel120"/>
          <p:cNvSpPr/>
          <p:nvPr/>
        </p:nvSpPr>
        <p:spPr>
          <a:xfrm>
            <a:off x="457200" y="1554480"/>
            <a:ext cx="5440680" cy="336651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>
                <a:solidFill>
                  <a:srgbClr val="F5B95C"/>
                </a:solidFill>
                <a:latin typeface="Calibri"/>
                <a:cs typeface="Calibri"/>
              </a:rPr>
              <a:t>products  (15 rows)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b="1">
                <a:solidFill>
                  <a:srgbClr val="F5B95C"/>
                </a:solidFill>
                <a:latin typeface="Consolas"/>
                <a:cs typeface="Consolas"/>
              </a:rPr>
              <a:t>PRODUCT_ID  PRODUCT_NAME    CATEGORY_ID  SUPPLIER_ID  PRICE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9CA3AF"/>
                </a:solidFill>
                <a:latin typeface="Consolas"/>
                <a:cs typeface="Consolas"/>
              </a:rPr>
              <a:t>----------  ------------    -----------  -----------  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1           Laptop          1            1            55000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2           Rice Bag 25kg   2            2            1200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3           Office Chair    3            3            3500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4           Notebook Pack   4            4            250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5           T-Shirt         5            5            400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6           Mouse           1            1            500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7           Wheat Bag 10kg  2            2            450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8           Study Table     3            3            4200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9           Pen Pack        4            4            100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10          Jeans           5            5            900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11          Keyboard        1            1            800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12          Sugar Bag 5kg   2            2            220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13          Bookshelf       3            3            2800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14          Stapler         4            4            150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15          Jacket          5            5            1500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121" name="Panel121"/>
          <p:cNvSpPr/>
          <p:nvPr/>
        </p:nvSpPr>
        <p:spPr>
          <a:xfrm>
            <a:off x="6217920" y="1554480"/>
            <a:ext cx="5440680" cy="336651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>
                <a:solidFill>
                  <a:srgbClr val="F5B95C"/>
                </a:solidFill>
                <a:latin typeface="Calibri"/>
                <a:cs typeface="Calibri"/>
              </a:rPr>
              <a:t>sales  (15 rows)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b="1">
                <a:solidFill>
                  <a:srgbClr val="F5B95C"/>
                </a:solidFill>
                <a:latin typeface="Consolas"/>
                <a:cs typeface="Consolas"/>
              </a:rPr>
              <a:t>SALE_ID  CUSTOMER_ID  PRODUCT_ID  QUANTITY  TOTAL_AMOUNT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9CA3AF"/>
                </a:solidFill>
                <a:latin typeface="Consolas"/>
                <a:cs typeface="Consolas"/>
              </a:rPr>
              <a:t>-------  -----------  ----------  --------  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1        1            1           1         55000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2        2            2           2         2400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3        3            3           1         3500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4        4            4           5         1250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5        5            5           3         1200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6        1            6           2         1000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7        2            7           1         450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8        3            8           1         4200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9        4            9           10        1000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10       5            10          2         1800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11       1            11          1         800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12       2            12          3         660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13       3            13          1         2800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14       4            14          4         600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cs typeface="Consolas"/>
              </a:rPr>
              <a:t>15       5            15          1         1500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1 — All Products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IN" sz="1500" i="1">
                <a:solidFill>
                  <a:srgbClr val="595959"/>
                </a:solidFill>
              </a:rPr>
              <a:t>Q: Display the name and price of every product in the inventory.</a:t>
            </a:r>
          </a:p>
        </p:txBody>
      </p:sp>
      <p:sp>
        <p:nvSpPr>
          <p:cNvPr id="122" name="Panel122"/>
          <p:cNvSpPr/>
          <p:nvPr/>
        </p:nvSpPr>
        <p:spPr>
          <a:xfrm>
            <a:off x="502920" y="1554480"/>
            <a:ext cx="5074920" cy="3581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SELECT product_name, price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FROM   products;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Simple projection of a single table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Baseline check that the INSERT data loaded</a:t>
            </a:r>
          </a:p>
        </p:txBody>
      </p:sp>
      <p:sp>
        <p:nvSpPr>
          <p:cNvPr id="123" name="Panel123"/>
          <p:cNvSpPr/>
          <p:nvPr/>
        </p:nvSpPr>
        <p:spPr>
          <a:xfrm>
            <a:off x="5897880" y="1554480"/>
            <a:ext cx="5788152" cy="3581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PRODUCT_NAME    PRICE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------------    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Laptop          55000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Rice Bag 25kg   1200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Office Chair    3500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Notebook Pack   250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T-Shirt         400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Mouse           500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Wheat Bag 10kg  450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Study Table     4200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Pen Pack        100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Jeans           900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Keyboard        800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Sugar Bag 5kg   220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Bookshelf       2800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Stapler         150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Jacket          1500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2 — All Customers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IN" sz="1500" i="1">
                <a:solidFill>
                  <a:srgbClr val="595959"/>
                </a:solidFill>
              </a:rPr>
              <a:t>Q: List every registered customer.</a:t>
            </a:r>
          </a:p>
        </p:txBody>
      </p:sp>
      <p:sp>
        <p:nvSpPr>
          <p:cNvPr id="124" name="Panel124"/>
          <p:cNvSpPr/>
          <p:nvPr/>
        </p:nvSpPr>
        <p:spPr>
          <a:xfrm>
            <a:off x="502920" y="1554480"/>
            <a:ext cx="5074920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SELECT customer_id, customer_name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FROM   customers;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Simple projection with no filter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Confirms all 5 customers loaded</a:t>
            </a:r>
          </a:p>
        </p:txBody>
      </p:sp>
      <p:sp>
        <p:nvSpPr>
          <p:cNvPr id="125" name="Panel125"/>
          <p:cNvSpPr/>
          <p:nvPr/>
        </p:nvSpPr>
        <p:spPr>
          <a:xfrm>
            <a:off x="5897880" y="1554480"/>
            <a:ext cx="5788152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CUSTOMER_ID  CUSTOMER_NAME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-----------  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            Ravi Kumar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            Priya Sharma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3            Amit Singh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4            Sneha Reddy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            John Mathew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3 — Bulk Sales (Qty &gt; 2)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IN" sz="1500" i="1">
                <a:solidFill>
                  <a:srgbClr val="595959"/>
                </a:solidFill>
              </a:rPr>
              <a:t>Q: Which sales moved more than 2 units in one transaction?</a:t>
            </a:r>
          </a:p>
        </p:txBody>
      </p:sp>
      <p:sp>
        <p:nvSpPr>
          <p:cNvPr id="126" name="Panel126"/>
          <p:cNvSpPr/>
          <p:nvPr/>
        </p:nvSpPr>
        <p:spPr>
          <a:xfrm>
            <a:off x="502920" y="1554480"/>
            <a:ext cx="5074920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SELECT sale_id, product_id, quantity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FROM   sales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WHERE  quantity &gt; 2;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WHERE filter on a numeric column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Flags bulk-purchase transactions</a:t>
            </a:r>
          </a:p>
        </p:txBody>
      </p:sp>
      <p:sp>
        <p:nvSpPr>
          <p:cNvPr id="127" name="Panel127"/>
          <p:cNvSpPr/>
          <p:nvPr/>
        </p:nvSpPr>
        <p:spPr>
          <a:xfrm>
            <a:off x="5897880" y="1554480"/>
            <a:ext cx="5788152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SALE_ID  PRODUCT_ID  QUANTITY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  ----------  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4        4           5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5        5           3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9        9           10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12       12          3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14       14          4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4 — Electronics Products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IN" sz="1500" i="1">
                <a:solidFill>
                  <a:srgbClr val="595959"/>
                </a:solidFill>
              </a:rPr>
              <a:t>Q: Which products belong to the Electronics category?</a:t>
            </a:r>
          </a:p>
        </p:txBody>
      </p:sp>
      <p:sp>
        <p:nvSpPr>
          <p:cNvPr id="128" name="Panel128"/>
          <p:cNvSpPr/>
          <p:nvPr/>
        </p:nvSpPr>
        <p:spPr>
          <a:xfrm>
            <a:off x="502920" y="1554480"/>
            <a:ext cx="5074920" cy="3581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SELECT p.product_name, p.price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FROM   products p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JOIN   categorys c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ON     p.category_id = c.category_id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WHERE  c.category_name = 'Electronics';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INNER JOIN across the products-category FK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WHERE filters the joined result</a:t>
            </a:r>
          </a:p>
        </p:txBody>
      </p:sp>
      <p:sp>
        <p:nvSpPr>
          <p:cNvPr id="129" name="Panel129"/>
          <p:cNvSpPr/>
          <p:nvPr/>
        </p:nvSpPr>
        <p:spPr>
          <a:xfrm>
            <a:off x="5897880" y="1554480"/>
            <a:ext cx="5788152" cy="3581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PRODUCT_NAME  PRICE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------------  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Laptop        55000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Mouse         500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Keyboard      800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3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5 — Total Number Of Sales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IN" sz="1500" i="1">
                <a:solidFill>
                  <a:srgbClr val="595959"/>
                </a:solidFill>
              </a:rPr>
              <a:t>Q: How many sales transactions have been recorded?</a:t>
            </a:r>
          </a:p>
        </p:txBody>
      </p:sp>
      <p:sp>
        <p:nvSpPr>
          <p:cNvPr id="130" name="Panel130"/>
          <p:cNvSpPr/>
          <p:nvPr/>
        </p:nvSpPr>
        <p:spPr>
          <a:xfrm>
            <a:off x="502920" y="1554480"/>
            <a:ext cx="5074920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SELECT COUNT(*) AS total_sales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FROM   sales;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COUNT(*) over the whole table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One summary row for reporting</a:t>
            </a:r>
          </a:p>
        </p:txBody>
      </p:sp>
      <p:sp>
        <p:nvSpPr>
          <p:cNvPr id="131" name="Panel131"/>
          <p:cNvSpPr/>
          <p:nvPr/>
        </p:nvSpPr>
        <p:spPr>
          <a:xfrm>
            <a:off x="5897880" y="1554480"/>
            <a:ext cx="5788152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TOTAL_SALES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 row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6 — All Suppliers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IN" sz="1500" i="1">
                <a:solidFill>
                  <a:srgbClr val="595959"/>
                </a:solidFill>
              </a:rPr>
              <a:t>Q: List every registered supplier.</a:t>
            </a:r>
          </a:p>
        </p:txBody>
      </p:sp>
      <p:sp>
        <p:nvSpPr>
          <p:cNvPr id="132" name="Panel132"/>
          <p:cNvSpPr/>
          <p:nvPr/>
        </p:nvSpPr>
        <p:spPr>
          <a:xfrm>
            <a:off x="502920" y="1554480"/>
            <a:ext cx="5074920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SELECT supplier_id, supplier_name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FROM   suppliers;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Simple projection of a single table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Confirms all 5 suppliers loaded</a:t>
            </a:r>
          </a:p>
        </p:txBody>
      </p:sp>
      <p:sp>
        <p:nvSpPr>
          <p:cNvPr id="133" name="Panel133"/>
          <p:cNvSpPr/>
          <p:nvPr/>
        </p:nvSpPr>
        <p:spPr>
          <a:xfrm>
            <a:off x="5897880" y="1554480"/>
            <a:ext cx="5788152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SUPPLIER_ID  SUPPLIER_NAME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-----------  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            ABC Traders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            Global Supplies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3            Metro Distributors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4            Prime Vendors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            Sunrise Wholesale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7 — Products By Price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IN" sz="1500" i="1">
                <a:solidFill>
                  <a:srgbClr val="595959"/>
                </a:solidFill>
              </a:rPr>
              <a:t>Q: List every product from most to least expensive.</a:t>
            </a:r>
          </a:p>
        </p:txBody>
      </p:sp>
      <p:sp>
        <p:nvSpPr>
          <p:cNvPr id="124" name="Panel124"/>
          <p:cNvSpPr/>
          <p:nvPr/>
        </p:nvSpPr>
        <p:spPr>
          <a:xfrm>
            <a:off x="502920" y="1554480"/>
            <a:ext cx="5074920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SELECT product_name, price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FROM   products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ORDER  BY price DESC;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ORDER BY DESC lists the costliest first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No WHERE filter — every product shown</a:t>
            </a:r>
          </a:p>
        </p:txBody>
      </p:sp>
      <p:sp>
        <p:nvSpPr>
          <p:cNvPr id="125" name="Panel125"/>
          <p:cNvSpPr/>
          <p:nvPr/>
        </p:nvSpPr>
        <p:spPr>
          <a:xfrm>
            <a:off x="5897880" y="1554480"/>
            <a:ext cx="5788152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PRODUCT_NAME    PRICE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------------    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Laptop          55000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Study Table     4200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Office Chair    3500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Bookshelf       2800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Jacket          1500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Rice Bag 25kg   1200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Jeans           900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Keyboard        800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Mouse           500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Wheat Bag 10kg  450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T-Shirt         400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Notebook Pack   250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Sugar Bag 5kg   220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Stapler         150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Pen Pack        100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8 — Total Revenue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IN" sz="1500" i="1">
                <a:solidFill>
                  <a:srgbClr val="595959"/>
                </a:solidFill>
              </a:rPr>
              <a:t>Q: What is the total amount earned from all sales?</a:t>
            </a:r>
          </a:p>
        </p:txBody>
      </p:sp>
      <p:sp>
        <p:nvSpPr>
          <p:cNvPr id="124" name="Panel124"/>
          <p:cNvSpPr/>
          <p:nvPr/>
        </p:nvSpPr>
        <p:spPr>
          <a:xfrm>
            <a:off x="502920" y="1554480"/>
            <a:ext cx="5074920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SELECT SUM(total_amount) AS total_revenue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FROM   sales;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SUM aggregate over the whole table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One summary row for the manager's report</a:t>
            </a:r>
          </a:p>
        </p:txBody>
      </p:sp>
      <p:sp>
        <p:nvSpPr>
          <p:cNvPr id="125" name="Panel125"/>
          <p:cNvSpPr/>
          <p:nvPr/>
        </p:nvSpPr>
        <p:spPr>
          <a:xfrm>
            <a:off x="5897880" y="1554480"/>
            <a:ext cx="5788152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TOTAL_REVENUE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78160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 row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9 — Revenue Per Customer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IN" sz="1500" i="1">
                <a:solidFill>
                  <a:srgbClr val="595959"/>
                </a:solidFill>
              </a:rPr>
              <a:t>Q: How much has each customer spent in total?</a:t>
            </a:r>
          </a:p>
        </p:txBody>
      </p:sp>
      <p:sp>
        <p:nvSpPr>
          <p:cNvPr id="124" name="Panel124"/>
          <p:cNvSpPr/>
          <p:nvPr/>
        </p:nvSpPr>
        <p:spPr>
          <a:xfrm>
            <a:off x="502920" y="1554480"/>
            <a:ext cx="5074920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SELECT cust.customer_name,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       SUM(sd.total_amount) AS total_spent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FROM   sales sd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JOIN   customers cust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ON     sd.customer_id = cust.customer_id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GROUP  BY cust.customer_name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ORDER  BY total_spent DESC;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SUM with GROUP BY per customer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ORDER BY ranks the biggest spender first</a:t>
            </a:r>
          </a:p>
        </p:txBody>
      </p:sp>
      <p:sp>
        <p:nvSpPr>
          <p:cNvPr id="125" name="Panel125"/>
          <p:cNvSpPr/>
          <p:nvPr/>
        </p:nvSpPr>
        <p:spPr>
          <a:xfrm>
            <a:off x="5897880" y="1554480"/>
            <a:ext cx="5788152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CUSTOMER_NAME  TOTAL_SPENT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-------------  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Ravi Kumar     56800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Amit Singh     10500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John Mathew    4500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Priya Sharma   3510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Sneha Reddy    2850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10 — Qty Sold By Category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IN" sz="1500" i="1">
                <a:solidFill>
                  <a:srgbClr val="595959"/>
                </a:solidFill>
              </a:rPr>
              <a:t>Q: How many units has each category sold in total?</a:t>
            </a:r>
          </a:p>
        </p:txBody>
      </p:sp>
      <p:sp>
        <p:nvSpPr>
          <p:cNvPr id="124" name="Panel124"/>
          <p:cNvSpPr/>
          <p:nvPr/>
        </p:nvSpPr>
        <p:spPr>
          <a:xfrm>
            <a:off x="502920" y="1554480"/>
            <a:ext cx="5074920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SELECT c.category_name,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       SUM(sd.quantity) AS total_qty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FROM   sales sd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JOIN   products p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ON     sd.product_id = p.product_id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JOIN   categorys c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ON     p.category_id = c.category_id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GROUP  BY c.category_name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ORDER  BY total_qty DESC;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SUM over a three-table join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GROUP BY aggregates quantity per category</a:t>
            </a:r>
          </a:p>
        </p:txBody>
      </p:sp>
      <p:sp>
        <p:nvSpPr>
          <p:cNvPr id="125" name="Panel125"/>
          <p:cNvSpPr/>
          <p:nvPr/>
        </p:nvSpPr>
        <p:spPr>
          <a:xfrm>
            <a:off x="5897880" y="1554480"/>
            <a:ext cx="5788152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CATEGORY_NAME  TOTAL_QTY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-------------  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Stationery     19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Clothing       6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Groceries      6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Electronics    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Furniture      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11 — Top Spender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IN" sz="1500" i="1">
                <a:solidFill>
                  <a:srgbClr val="595959"/>
                </a:solidFill>
              </a:rPr>
              <a:t>Q: Which single customer has spent the most overall?</a:t>
            </a:r>
          </a:p>
        </p:txBody>
      </p:sp>
      <p:sp>
        <p:nvSpPr>
          <p:cNvPr id="124" name="Panel124"/>
          <p:cNvSpPr/>
          <p:nvPr/>
        </p:nvSpPr>
        <p:spPr>
          <a:xfrm>
            <a:off x="502920" y="1554480"/>
            <a:ext cx="5074920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SELECT customer_name, total_spent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FROM (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  SELECT cust.customer_name,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         SUM(sd.total_amount) AS total_spent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  FROM   sales sd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  JOIN   customers cust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  ON     sd.customer_id = cust.customer_id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  GROUP  BY cust.customer_name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  ORDER  BY total_spent DESC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)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WHERE  ROWNUM = 1;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An inline view (subquery) ranks every customer first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ROWNUM = 1 keeps only the top spender</a:t>
            </a:r>
          </a:p>
        </p:txBody>
      </p:sp>
      <p:sp>
        <p:nvSpPr>
          <p:cNvPr id="125" name="Panel125"/>
          <p:cNvSpPr/>
          <p:nvPr/>
        </p:nvSpPr>
        <p:spPr>
          <a:xfrm>
            <a:off x="5897880" y="1554480"/>
            <a:ext cx="5788152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CUSTOMER_NAME  TOTAL_SPENT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-------------  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Ravi Kumar     56800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 row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12 — Products Never Sold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IN" sz="1500" i="1">
                <a:solidFill>
                  <a:srgbClr val="595959"/>
                </a:solidFill>
              </a:rPr>
              <a:t>Q: Are there any products that have not been sold yet?</a:t>
            </a:r>
          </a:p>
        </p:txBody>
      </p:sp>
      <p:sp>
        <p:nvSpPr>
          <p:cNvPr id="124" name="Panel124"/>
          <p:cNvSpPr/>
          <p:nvPr/>
        </p:nvSpPr>
        <p:spPr>
          <a:xfrm>
            <a:off x="502920" y="1554480"/>
            <a:ext cx="5074920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SELECT p.product_name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FROM   products p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LEFT   JOIN sales sd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ON     p.product_id = sd.product_id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WHERE  sd.sale_id IS NULL;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LEFT JOIN keeps products with no matching sale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IS NULL filters down to unsold products only</a:t>
            </a:r>
          </a:p>
        </p:txBody>
      </p:sp>
      <p:sp>
        <p:nvSpPr>
          <p:cNvPr id="125" name="Panel125"/>
          <p:cNvSpPr/>
          <p:nvPr/>
        </p:nvSpPr>
        <p:spPr>
          <a:xfrm>
            <a:off x="5897880" y="1554480"/>
            <a:ext cx="5788152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PRODUCT_NAME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-- every product has sold at least once 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0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13 — Product Revenue Rank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IN" sz="1500" i="1">
                <a:solidFill>
                  <a:srgbClr val="595959"/>
                </a:solidFill>
              </a:rPr>
              <a:t>Q: How do products rank against each other by revenue earned?</a:t>
            </a:r>
          </a:p>
        </p:txBody>
      </p:sp>
      <p:sp>
        <p:nvSpPr>
          <p:cNvPr id="124" name="Panel124"/>
          <p:cNvSpPr/>
          <p:nvPr/>
        </p:nvSpPr>
        <p:spPr>
          <a:xfrm>
            <a:off x="502920" y="1554480"/>
            <a:ext cx="5074920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SELECT p.product_name,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       SUM(sd.total_amount) AS revenue,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       RANK() OVER (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         ORDER BY SUM(sd.total_amount) DESC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       ) AS revenue_rank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FROM   sales sd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JOIN   products p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ON     sd.product_id = p.product_id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GROUP  BY p.product_name;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RANK() OVER () is a window function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Tied revenue values (Mouse, Pen Pack) share a rank</a:t>
            </a:r>
          </a:p>
        </p:txBody>
      </p:sp>
      <p:sp>
        <p:nvSpPr>
          <p:cNvPr id="125" name="Panel125"/>
          <p:cNvSpPr/>
          <p:nvPr/>
        </p:nvSpPr>
        <p:spPr>
          <a:xfrm>
            <a:off x="5897880" y="1554480"/>
            <a:ext cx="5788152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PRODUCT_NAME    REVENUE  RANK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------------    -------  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Laptop          55000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Study Table     4200    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Office Chair    3500     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Bookshelf       2800     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Rice Bag 25kg   2400     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Jeans           1800     6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Jacket          1500     7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Notebook Pack   1250     8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T-Shirt         1200     9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Mouse           1000     10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Pen Pack        1000     10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Keyboard        800      12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Sugar Bag 5kg   660      13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Stapler         600      14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Wheat Bag 10kg  450      15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14 — Revenue Per Supplier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IN" sz="1500" i="1">
                <a:solidFill>
                  <a:srgbClr val="595959"/>
                </a:solidFill>
              </a:rPr>
              <a:t>Q: How much revenue has each supplier contributed?</a:t>
            </a:r>
          </a:p>
        </p:txBody>
      </p:sp>
      <p:sp>
        <p:nvSpPr>
          <p:cNvPr id="124" name="Panel124"/>
          <p:cNvSpPr/>
          <p:nvPr/>
        </p:nvSpPr>
        <p:spPr>
          <a:xfrm>
            <a:off x="502920" y="1554480"/>
            <a:ext cx="5074920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 dirty="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/>
                <a:cs typeface="Consolas"/>
              </a:rPr>
              <a:t>SELECT </a:t>
            </a:r>
            <a:r>
              <a:rPr lang="en-US" sz="1150" dirty="0" err="1">
                <a:solidFill>
                  <a:srgbClr val="E5E7EB"/>
                </a:solidFill>
                <a:latin typeface="Consolas"/>
                <a:cs typeface="Consolas"/>
              </a:rPr>
              <a:t>sup.supplier_name</a:t>
            </a:r>
            <a:r>
              <a:rPr lang="en-US" sz="1150" dirty="0">
                <a:solidFill>
                  <a:srgbClr val="E5E7EB"/>
                </a:solidFill>
                <a:latin typeface="Consolas"/>
                <a:cs typeface="Consolas"/>
              </a:rPr>
              <a:t>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/>
                <a:cs typeface="Consolas"/>
              </a:rPr>
              <a:t>       SUM(</a:t>
            </a:r>
            <a:r>
              <a:rPr lang="en-US" sz="1150" dirty="0" err="1">
                <a:solidFill>
                  <a:srgbClr val="E5E7EB"/>
                </a:solidFill>
                <a:latin typeface="Consolas"/>
                <a:cs typeface="Consolas"/>
              </a:rPr>
              <a:t>sd.total_amount</a:t>
            </a:r>
            <a:r>
              <a:rPr lang="en-US" sz="1150" dirty="0">
                <a:solidFill>
                  <a:srgbClr val="E5E7EB"/>
                </a:solidFill>
                <a:latin typeface="Consolas"/>
                <a:cs typeface="Consolas"/>
              </a:rPr>
              <a:t>) AS revenue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/>
                <a:cs typeface="Consolas"/>
              </a:rPr>
              <a:t>FROM   sales </a:t>
            </a:r>
            <a:r>
              <a:rPr lang="en-US" sz="1150" dirty="0" err="1">
                <a:solidFill>
                  <a:srgbClr val="E5E7EB"/>
                </a:solidFill>
                <a:latin typeface="Consolas"/>
                <a:cs typeface="Consolas"/>
              </a:rPr>
              <a:t>sd</a:t>
            </a:r>
            <a:endParaRPr lang="en-US" sz="1150" dirty="0">
              <a:solidFill>
                <a:srgbClr val="E5E7EB"/>
              </a:solidFill>
              <a:latin typeface="Consolas"/>
              <a:cs typeface="Consolas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/>
                <a:cs typeface="Consolas"/>
              </a:rPr>
              <a:t>JOIN   products p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/>
                <a:cs typeface="Consolas"/>
              </a:rPr>
              <a:t>ON     </a:t>
            </a:r>
            <a:r>
              <a:rPr lang="en-US" sz="1150" dirty="0" err="1">
                <a:solidFill>
                  <a:srgbClr val="E5E7EB"/>
                </a:solidFill>
                <a:latin typeface="Consolas"/>
                <a:cs typeface="Consolas"/>
              </a:rPr>
              <a:t>sd.product_id</a:t>
            </a:r>
            <a:r>
              <a:rPr lang="en-US" sz="1150" dirty="0">
                <a:solidFill>
                  <a:srgbClr val="E5E7EB"/>
                </a:solidFill>
                <a:latin typeface="Consolas"/>
                <a:cs typeface="Consolas"/>
              </a:rPr>
              <a:t> = </a:t>
            </a:r>
            <a:r>
              <a:rPr lang="en-US" sz="1150" dirty="0" err="1">
                <a:solidFill>
                  <a:srgbClr val="E5E7EB"/>
                </a:solidFill>
                <a:latin typeface="Consolas"/>
                <a:cs typeface="Consolas"/>
              </a:rPr>
              <a:t>p.product_id</a:t>
            </a:r>
            <a:endParaRPr lang="en-US" sz="1150" dirty="0">
              <a:solidFill>
                <a:srgbClr val="E5E7EB"/>
              </a:solidFill>
              <a:latin typeface="Consolas"/>
              <a:cs typeface="Consolas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/>
                <a:cs typeface="Consolas"/>
              </a:rPr>
              <a:t>JOIN   </a:t>
            </a:r>
            <a:r>
              <a:rPr lang="en-US" sz="1150" u="sng" dirty="0">
                <a:solidFill>
                  <a:srgbClr val="E5E7EB"/>
                </a:solidFill>
                <a:latin typeface="Consolas"/>
                <a:cs typeface="Consolas"/>
              </a:rPr>
              <a:t>suppliers</a:t>
            </a:r>
            <a:r>
              <a:rPr lang="en-US" sz="1150" dirty="0">
                <a:solidFill>
                  <a:srgbClr val="E5E7EB"/>
                </a:solidFill>
                <a:latin typeface="Consolas"/>
                <a:cs typeface="Consolas"/>
              </a:rPr>
              <a:t> sup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/>
                <a:cs typeface="Consolas"/>
              </a:rPr>
              <a:t>ON     </a:t>
            </a:r>
            <a:r>
              <a:rPr lang="en-US" sz="1150" dirty="0" err="1">
                <a:solidFill>
                  <a:srgbClr val="E5E7EB"/>
                </a:solidFill>
                <a:latin typeface="Consolas"/>
                <a:cs typeface="Consolas"/>
              </a:rPr>
              <a:t>p.supplier_id</a:t>
            </a:r>
            <a:r>
              <a:rPr lang="en-US" sz="1150" dirty="0">
                <a:solidFill>
                  <a:srgbClr val="E5E7EB"/>
                </a:solidFill>
                <a:latin typeface="Consolas"/>
                <a:cs typeface="Consolas"/>
              </a:rPr>
              <a:t> = </a:t>
            </a:r>
            <a:r>
              <a:rPr lang="en-US" sz="1150" dirty="0" err="1">
                <a:solidFill>
                  <a:srgbClr val="E5E7EB"/>
                </a:solidFill>
                <a:latin typeface="Consolas"/>
                <a:cs typeface="Consolas"/>
              </a:rPr>
              <a:t>sup.supplier_id</a:t>
            </a:r>
            <a:endParaRPr lang="en-US" sz="1150" dirty="0">
              <a:solidFill>
                <a:srgbClr val="E5E7EB"/>
              </a:solidFill>
              <a:latin typeface="Consolas"/>
              <a:cs typeface="Consolas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/>
                <a:cs typeface="Consolas"/>
              </a:rPr>
              <a:t>GROUP  BY </a:t>
            </a:r>
            <a:r>
              <a:rPr lang="en-US" sz="1150" dirty="0" err="1">
                <a:solidFill>
                  <a:srgbClr val="E5E7EB"/>
                </a:solidFill>
                <a:latin typeface="Consolas"/>
                <a:cs typeface="Consolas"/>
              </a:rPr>
              <a:t>sup.supplier_name</a:t>
            </a:r>
            <a:endParaRPr lang="en-US" sz="1150" dirty="0">
              <a:solidFill>
                <a:srgbClr val="E5E7EB"/>
              </a:solidFill>
              <a:latin typeface="Consolas"/>
              <a:cs typeface="Consolas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/>
                <a:cs typeface="Consolas"/>
              </a:rPr>
              <a:t>ORDER  BY revenue DESC;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700" dirty="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/>
                <a:cs typeface="Calibri"/>
              </a:rPr>
              <a:t>SUM over a three-table join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/>
                <a:cs typeface="Calibri"/>
              </a:rPr>
              <a:t>Shows which supplier drives the most revenue</a:t>
            </a:r>
          </a:p>
        </p:txBody>
      </p:sp>
      <p:sp>
        <p:nvSpPr>
          <p:cNvPr id="125" name="Panel125"/>
          <p:cNvSpPr/>
          <p:nvPr/>
        </p:nvSpPr>
        <p:spPr>
          <a:xfrm>
            <a:off x="5897880" y="1554480"/>
            <a:ext cx="5788152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SUPPLIER_NAME       REVENUE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------------------  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ABC Traders         56800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Metro Distributors  10500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Sunrise Wholesale   4500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Global Supplies     3510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Prime Vendors       2850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15 — Above-Average Price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IN" sz="1500" i="1">
                <a:solidFill>
                  <a:srgbClr val="595959"/>
                </a:solidFill>
              </a:rPr>
              <a:t>Q: Which products cost more than the average product price?</a:t>
            </a:r>
          </a:p>
        </p:txBody>
      </p:sp>
      <p:sp>
        <p:nvSpPr>
          <p:cNvPr id="124" name="Panel124"/>
          <p:cNvSpPr/>
          <p:nvPr/>
        </p:nvSpPr>
        <p:spPr>
          <a:xfrm>
            <a:off x="502920" y="1554480"/>
            <a:ext cx="5074920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SELECT product_name, price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FROM   products p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WHERE  price &gt; (SELECT AVG(price)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                FROM   products)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5E7EB"/>
                </a:solidFill>
                <a:latin typeface="Consolas"/>
                <a:cs typeface="Consolas"/>
              </a:rPr>
              <a:t>ORDER  BY price DESC;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Uncorrelated subquery computes the average once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200">
                <a:solidFill>
                  <a:srgbClr val="E5E7EB"/>
                </a:solidFill>
                <a:latin typeface="Calibri"/>
                <a:cs typeface="Calibri"/>
              </a:rPr>
              <a:t>Only products beating that average (4798) qualify</a:t>
            </a:r>
          </a:p>
        </p:txBody>
      </p:sp>
      <p:sp>
        <p:nvSpPr>
          <p:cNvPr id="125" name="Panel125"/>
          <p:cNvSpPr/>
          <p:nvPr/>
        </p:nvSpPr>
        <p:spPr>
          <a:xfrm>
            <a:off x="5897880" y="1554480"/>
            <a:ext cx="5788152" cy="33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PRODUCT_NAME  PRICE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------------  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Laptop        55000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 row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A24DB-4447-1628-0D58-40C7F8DE6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>
            <a:extLst>
              <a:ext uri="{FF2B5EF4-FFF2-40B4-BE49-F238E27FC236}">
                <a16:creationId xmlns:a16="http://schemas.microsoft.com/office/drawing/2014/main" id="{DDB65082-8B69-61FA-0063-0CEC237A5143}"/>
              </a:ext>
            </a:extLst>
          </p:cNvPr>
          <p:cNvSpPr txBox="1">
            <a:spLocks/>
          </p:cNvSpPr>
          <p:nvPr/>
        </p:nvSpPr>
        <p:spPr>
          <a:xfrm>
            <a:off x="23317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sz="2550" b="1">
                <a:solidFill>
                  <a:srgbClr val="0070C0"/>
                </a:solidFill>
                <a:latin typeface="Maiandra GD"/>
              </a:rPr>
              <a:t>1NF — Decomposition into 2 Relations</a:t>
            </a:r>
          </a:p>
        </p:txBody>
      </p:sp>
      <p:sp>
        <p:nvSpPr>
          <p:cNvPr id="32" name="TB32">
            <a:extLst>
              <a:ext uri="{FF2B5EF4-FFF2-40B4-BE49-F238E27FC236}">
                <a16:creationId xmlns:a16="http://schemas.microsoft.com/office/drawing/2014/main" id="{05C16A36-1B40-2830-6DA2-E92A8EEF28F4}"/>
              </a:ext>
            </a:extLst>
          </p:cNvPr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sz="1500" i="1">
                <a:solidFill>
                  <a:srgbClr val="595959"/>
                </a:solidFill>
                <a:latin typeface="Calibri"/>
              </a:rPr>
              <a:t>Remove the repeating product group so every value is atomic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A18A70-FAB0-DDA9-0BB6-345D6DAA93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9FD428-A891-CCE3-D656-CA16320DBB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5E61AC-1B7E-4EB4-8042-A545FF82CE8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13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D3FAA58-1EA9-7922-1B3B-0F6AE151EBED}"/>
              </a:ext>
            </a:extLst>
          </p:cNvPr>
          <p:cNvSpPr/>
          <p:nvPr/>
        </p:nvSpPr>
        <p:spPr>
          <a:xfrm>
            <a:off x="502920" y="1554480"/>
            <a:ext cx="5504688" cy="3794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57E213-2F69-66BC-531F-AEF2019FC3ED}"/>
              </a:ext>
            </a:extLst>
          </p:cNvPr>
          <p:cNvSpPr txBox="1"/>
          <p:nvPr/>
        </p:nvSpPr>
        <p:spPr>
          <a:xfrm>
            <a:off x="713232" y="1737360"/>
            <a:ext cx="50840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5B95C"/>
                </a:solidFill>
                <a:latin typeface="Calibri"/>
              </a:rPr>
              <a:t>1NF decomposition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D63EB4-BC16-168A-7ED5-792856F98886}"/>
              </a:ext>
            </a:extLst>
          </p:cNvPr>
          <p:cNvSpPr txBox="1"/>
          <p:nvPr/>
        </p:nvSpPr>
        <p:spPr>
          <a:xfrm>
            <a:off x="749808" y="1965960"/>
            <a:ext cx="4983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 i="0">
                <a:solidFill>
                  <a:srgbClr val="F5B95C"/>
                </a:solidFill>
                <a:latin typeface="Calibri"/>
              </a:rPr>
              <a:t>Input: UNF relation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848E45-21EE-01A3-D79B-67EFC5300D4B}"/>
              </a:ext>
            </a:extLst>
          </p:cNvPr>
          <p:cNvSpPr txBox="1"/>
          <p:nvPr/>
        </p:nvSpPr>
        <p:spPr>
          <a:xfrm>
            <a:off x="749808" y="2249424"/>
            <a:ext cx="4983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 i="0">
                <a:solidFill>
                  <a:srgbClr val="E5E7EB"/>
                </a:solidFill>
                <a:latin typeface="Consolas"/>
              </a:rPr>
              <a:t>SALE_UNF( sale_id, customer_id, customer_name, {product…} 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651355-DF5C-A073-4E31-56159B5EE014}"/>
              </a:ext>
            </a:extLst>
          </p:cNvPr>
          <p:cNvSpPr txBox="1"/>
          <p:nvPr/>
        </p:nvSpPr>
        <p:spPr>
          <a:xfrm>
            <a:off x="749808" y="3026664"/>
            <a:ext cx="4983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BD5E1"/>
                </a:solidFill>
                <a:latin typeface="Calibri"/>
              </a:rPr>
              <a:t>Decompose the repeating group into rows: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FFFABA-3557-2B9C-24F7-20D2E52999E1}"/>
              </a:ext>
            </a:extLst>
          </p:cNvPr>
          <p:cNvSpPr txBox="1"/>
          <p:nvPr/>
        </p:nvSpPr>
        <p:spPr>
          <a:xfrm>
            <a:off x="914400" y="3383280"/>
            <a:ext cx="46634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0" b="1" i="0">
                <a:solidFill>
                  <a:srgbClr val="86EFAC"/>
                </a:solidFill>
                <a:latin typeface="Calibri"/>
              </a:rPr>
              <a:t>1) SALE
2) SALE_PRODUCT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1F1E9E-6B41-D804-2523-E4BD3FFC80AA}"/>
              </a:ext>
            </a:extLst>
          </p:cNvPr>
          <p:cNvSpPr txBox="1"/>
          <p:nvPr/>
        </p:nvSpPr>
        <p:spPr>
          <a:xfrm>
            <a:off x="749808" y="4279392"/>
            <a:ext cx="498348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0" b="0" i="0">
                <a:solidFill>
                  <a:srgbClr val="E5E7EB"/>
                </a:solidFill>
                <a:latin typeface="Calibri"/>
              </a:rPr>
              <a:t>Every cell is now atomic. SALE_PRODUCT uses (Sale_ID, Product_ID) as its composite key.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F73D0C0-783A-EAD1-2E76-5CB486B5C75C}"/>
              </a:ext>
            </a:extLst>
          </p:cNvPr>
          <p:cNvSpPr/>
          <p:nvPr/>
        </p:nvSpPr>
        <p:spPr>
          <a:xfrm>
            <a:off x="6245352" y="1554480"/>
            <a:ext cx="5440680" cy="3794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D38936-904D-586D-0A39-3D4D2E487CB1}"/>
              </a:ext>
            </a:extLst>
          </p:cNvPr>
          <p:cNvSpPr txBox="1"/>
          <p:nvPr/>
        </p:nvSpPr>
        <p:spPr>
          <a:xfrm>
            <a:off x="6455664" y="1737360"/>
            <a:ext cx="50200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5B95C"/>
                </a:solidFill>
                <a:latin typeface="Calibri"/>
              </a:rPr>
              <a:t>Two relations after 1NF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50EE40-4E68-D19B-896D-96B947041C72}"/>
              </a:ext>
            </a:extLst>
          </p:cNvPr>
          <p:cNvSpPr txBox="1"/>
          <p:nvPr/>
        </p:nvSpPr>
        <p:spPr>
          <a:xfrm>
            <a:off x="6473952" y="195681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 i="0">
                <a:solidFill>
                  <a:srgbClr val="F5B95C"/>
                </a:solidFill>
                <a:latin typeface="Calibri"/>
              </a:rPr>
              <a:t>SALE</a:t>
            </a: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47A9794B-DB3E-9893-8E75-CD637868B36A}"/>
              </a:ext>
            </a:extLst>
          </p:cNvPr>
          <p:cNvGraphicFramePr>
            <a:graphicFrameLocks noGrp="1"/>
          </p:cNvGraphicFramePr>
          <p:nvPr/>
        </p:nvGraphicFramePr>
        <p:xfrm>
          <a:off x="6446520" y="2221992"/>
          <a:ext cx="4937760" cy="7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128"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Sale_ID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Customer_ID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Customer_Name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128"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0F172A"/>
                          </a:solidFill>
                          <a:latin typeface="Calibri"/>
                        </a:rPr>
                        <a:t>S01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0F172A"/>
                          </a:solidFill>
                          <a:latin typeface="Calibri"/>
                        </a:rPr>
                        <a:t>C01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0F172A"/>
                          </a:solidFill>
                          <a:latin typeface="Calibri"/>
                        </a:rPr>
                        <a:t>Ravi Kumar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128"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0F172A"/>
                          </a:solidFill>
                          <a:latin typeface="Calibri"/>
                        </a:rPr>
                        <a:t>S02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0F172A"/>
                          </a:solidFill>
                          <a:latin typeface="Calibri"/>
                        </a:rPr>
                        <a:t>C02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0F172A"/>
                          </a:solidFill>
                          <a:latin typeface="Calibri"/>
                        </a:rPr>
                        <a:t>Priya Sharma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46BAFC2F-526D-0F79-0DE7-0B4B3E06CCD5}"/>
              </a:ext>
            </a:extLst>
          </p:cNvPr>
          <p:cNvSpPr txBox="1"/>
          <p:nvPr/>
        </p:nvSpPr>
        <p:spPr>
          <a:xfrm>
            <a:off x="6473952" y="317296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 i="0">
                <a:solidFill>
                  <a:srgbClr val="F5B95C"/>
                </a:solidFill>
                <a:latin typeface="Calibri"/>
              </a:rPr>
              <a:t>SALE_PRODUCT</a:t>
            </a: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50CC1AFE-7493-B10A-DF28-E16EF1A91481}"/>
              </a:ext>
            </a:extLst>
          </p:cNvPr>
          <p:cNvGraphicFramePr>
            <a:graphicFrameLocks noGrp="1"/>
          </p:cNvGraphicFramePr>
          <p:nvPr/>
        </p:nvGraphicFramePr>
        <p:xfrm>
          <a:off x="6446520" y="3438144"/>
          <a:ext cx="493776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Calibri"/>
                        </a:rPr>
                        <a:t>Sale_ID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Calibri"/>
                        </a:rPr>
                        <a:t>Product_ID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Calibri"/>
                        </a:rPr>
                        <a:t>Product_Name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F172A"/>
                          </a:solidFill>
                          <a:latin typeface="Calibri"/>
                        </a:rPr>
                        <a:t>S01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F172A"/>
                          </a:solidFill>
                          <a:latin typeface="Calibri"/>
                        </a:rPr>
                        <a:t>P01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F172A"/>
                          </a:solidFill>
                          <a:latin typeface="Calibri"/>
                        </a:rPr>
                        <a:t>Laptop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F172A"/>
                          </a:solidFill>
                          <a:latin typeface="Calibri"/>
                        </a:rPr>
                        <a:t>55000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F172A"/>
                          </a:solidFill>
                          <a:latin typeface="Calibri"/>
                        </a:rPr>
                        <a:t>S01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F172A"/>
                          </a:solidFill>
                          <a:latin typeface="Calibri"/>
                        </a:rPr>
                        <a:t>P06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F172A"/>
                          </a:solidFill>
                          <a:latin typeface="Calibri"/>
                        </a:rPr>
                        <a:t>Mouse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F172A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2BE516AB-33AC-405A-8DFA-5F9CB0FBF2B6}"/>
              </a:ext>
            </a:extLst>
          </p:cNvPr>
          <p:cNvSpPr txBox="1"/>
          <p:nvPr/>
        </p:nvSpPr>
        <p:spPr>
          <a:xfrm>
            <a:off x="6473952" y="4636008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i="0">
                <a:solidFill>
                  <a:srgbClr val="86EFAC"/>
                </a:solidFill>
                <a:latin typeface="Calibri"/>
              </a:rPr>
              <a:t>Keys: SALE_ID | (SALE_ID, PRODUCT_ID)</a:t>
            </a:r>
          </a:p>
        </p:txBody>
      </p:sp>
    </p:spTree>
    <p:extLst>
      <p:ext uri="{BB962C8B-B14F-4D97-AF65-F5344CB8AC3E}">
        <p14:creationId xmlns:p14="http://schemas.microsoft.com/office/powerpoint/2010/main" val="1658932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0CD1B-1D4F-6779-123F-E243E2FE2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>
            <a:extLst>
              <a:ext uri="{FF2B5EF4-FFF2-40B4-BE49-F238E27FC236}">
                <a16:creationId xmlns:a16="http://schemas.microsoft.com/office/drawing/2014/main" id="{CD932EA7-0C54-0A8A-BAF1-9792B15F8997}"/>
              </a:ext>
            </a:extLst>
          </p:cNvPr>
          <p:cNvSpPr txBox="1">
            <a:spLocks/>
          </p:cNvSpPr>
          <p:nvPr/>
        </p:nvSpPr>
        <p:spPr>
          <a:xfrm>
            <a:off x="23317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sz="2550" b="1">
                <a:solidFill>
                  <a:srgbClr val="0070C0"/>
                </a:solidFill>
                <a:latin typeface="Maiandra GD"/>
              </a:rPr>
              <a:t>2NF — Decomposition into 2 Relations</a:t>
            </a:r>
          </a:p>
        </p:txBody>
      </p:sp>
      <p:sp>
        <p:nvSpPr>
          <p:cNvPr id="32" name="TB32">
            <a:extLst>
              <a:ext uri="{FF2B5EF4-FFF2-40B4-BE49-F238E27FC236}">
                <a16:creationId xmlns:a16="http://schemas.microsoft.com/office/drawing/2014/main" id="{99776BF3-9FB9-EF46-5D3E-7804898D155A}"/>
              </a:ext>
            </a:extLst>
          </p:cNvPr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sz="1500" i="1">
                <a:solidFill>
                  <a:srgbClr val="595959"/>
                </a:solidFill>
                <a:latin typeface="Calibri"/>
              </a:rPr>
              <a:t>Remove attributes that depend on only part of the composite key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C6BE99-11E3-6F5E-547E-40876571B0A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F4829E-087E-9A3C-B2D7-225395254C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C96BDE-E839-AEF8-D789-D9D75C4000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14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A0B6DA0-8937-F8A1-4ABF-DCA5A8A155CA}"/>
              </a:ext>
            </a:extLst>
          </p:cNvPr>
          <p:cNvSpPr/>
          <p:nvPr/>
        </p:nvSpPr>
        <p:spPr>
          <a:xfrm>
            <a:off x="502920" y="1554480"/>
            <a:ext cx="5504688" cy="3886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3682B4-C8F0-F887-5B44-95E9739ADFB6}"/>
              </a:ext>
            </a:extLst>
          </p:cNvPr>
          <p:cNvSpPr txBox="1"/>
          <p:nvPr/>
        </p:nvSpPr>
        <p:spPr>
          <a:xfrm>
            <a:off x="713232" y="1737360"/>
            <a:ext cx="50840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5B95C"/>
                </a:solidFill>
                <a:latin typeface="Calibri"/>
              </a:rPr>
              <a:t>1NF relation — composite key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04EA70-5CCA-72EE-7793-F961DE95A3D0}"/>
              </a:ext>
            </a:extLst>
          </p:cNvPr>
          <p:cNvSpPr txBox="1"/>
          <p:nvPr/>
        </p:nvSpPr>
        <p:spPr>
          <a:xfrm>
            <a:off x="749808" y="1965960"/>
            <a:ext cx="498348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0" b="0" i="0">
                <a:solidFill>
                  <a:srgbClr val="E5E7EB"/>
                </a:solidFill>
                <a:latin typeface="Consolas"/>
              </a:rPr>
              <a:t>SALE_PRODUCT_1NF( Sale_ID, Product_ID, Product_Name, Price, Quantity, Total_Amount 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7CE8C9-D448-A0E7-354A-5814D51F06A4}"/>
              </a:ext>
            </a:extLst>
          </p:cNvPr>
          <p:cNvSpPr txBox="1"/>
          <p:nvPr/>
        </p:nvSpPr>
        <p:spPr>
          <a:xfrm>
            <a:off x="749808" y="2688336"/>
            <a:ext cx="4983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B95C"/>
                </a:solidFill>
                <a:latin typeface="Calibri"/>
              </a:rPr>
              <a:t>Primary key = (Sale_ID, Product_ID)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7CA160-F88F-9BB6-CE30-EDA31B891362}"/>
              </a:ext>
            </a:extLst>
          </p:cNvPr>
          <p:cNvSpPr txBox="1"/>
          <p:nvPr/>
        </p:nvSpPr>
        <p:spPr>
          <a:xfrm>
            <a:off x="749808" y="3008376"/>
            <a:ext cx="4983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5B95C"/>
                </a:solidFill>
                <a:latin typeface="Calibri"/>
              </a:rPr>
              <a:t>Partial dependency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D87943-0AC2-E630-47EA-188E0753583F}"/>
              </a:ext>
            </a:extLst>
          </p:cNvPr>
          <p:cNvSpPr txBox="1"/>
          <p:nvPr/>
        </p:nvSpPr>
        <p:spPr>
          <a:xfrm>
            <a:off x="749808" y="3310128"/>
            <a:ext cx="4983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E5E7EB"/>
                </a:solidFill>
                <a:latin typeface="Consolas"/>
              </a:rPr>
              <a:t>Product_ID → Product_Name, Price
These attributes depend on Product_ID alone.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5EDFCFF-4C5F-BEC6-72B6-0B21D6600E61}"/>
              </a:ext>
            </a:extLst>
          </p:cNvPr>
          <p:cNvSpPr txBox="1"/>
          <p:nvPr/>
        </p:nvSpPr>
        <p:spPr>
          <a:xfrm>
            <a:off x="749808" y="4160520"/>
            <a:ext cx="4983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Decompose into exactly two relations: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DD301C-5E38-2510-2D92-247BC300399B}"/>
              </a:ext>
            </a:extLst>
          </p:cNvPr>
          <p:cNvSpPr txBox="1"/>
          <p:nvPr/>
        </p:nvSpPr>
        <p:spPr>
          <a:xfrm>
            <a:off x="914400" y="4489704"/>
            <a:ext cx="46634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0" b="1" i="0">
                <a:solidFill>
                  <a:srgbClr val="86EFAC"/>
                </a:solidFill>
                <a:latin typeface="Calibri"/>
              </a:rPr>
              <a:t>PRODUCT
SALE_PRODUCT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9C572B3-CF87-AB8F-3BF9-6557656F525D}"/>
              </a:ext>
            </a:extLst>
          </p:cNvPr>
          <p:cNvSpPr/>
          <p:nvPr/>
        </p:nvSpPr>
        <p:spPr>
          <a:xfrm>
            <a:off x="6245352" y="1554480"/>
            <a:ext cx="5440680" cy="3886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B63905-1BFE-0745-F777-FE358A2F6CD9}"/>
              </a:ext>
            </a:extLst>
          </p:cNvPr>
          <p:cNvSpPr txBox="1"/>
          <p:nvPr/>
        </p:nvSpPr>
        <p:spPr>
          <a:xfrm>
            <a:off x="6455664" y="1737360"/>
            <a:ext cx="50200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5B95C"/>
                </a:solidFill>
                <a:latin typeface="Calibri"/>
              </a:rPr>
              <a:t>Two relations after 2NF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74B96C-5A65-2FAC-9086-AED9BDB7A480}"/>
              </a:ext>
            </a:extLst>
          </p:cNvPr>
          <p:cNvSpPr txBox="1"/>
          <p:nvPr/>
        </p:nvSpPr>
        <p:spPr>
          <a:xfrm>
            <a:off x="6473952" y="195681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 i="0">
                <a:solidFill>
                  <a:srgbClr val="F5B95C"/>
                </a:solidFill>
                <a:latin typeface="Calibri"/>
              </a:rPr>
              <a:t>PRODUCT</a:t>
            </a: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0CFB700D-B6AB-53AE-ABC9-72AE2BE56394}"/>
              </a:ext>
            </a:extLst>
          </p:cNvPr>
          <p:cNvGraphicFramePr>
            <a:graphicFrameLocks noGrp="1"/>
          </p:cNvGraphicFramePr>
          <p:nvPr/>
        </p:nvGraphicFramePr>
        <p:xfrm>
          <a:off x="6446520" y="2221992"/>
          <a:ext cx="4937760" cy="7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128"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Product_ID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Product_Name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128"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0F172A"/>
                          </a:solidFill>
                          <a:latin typeface="Calibri"/>
                        </a:rPr>
                        <a:t>P01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0F172A"/>
                          </a:solidFill>
                          <a:latin typeface="Calibri"/>
                        </a:rPr>
                        <a:t>Laptop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0F172A"/>
                          </a:solidFill>
                          <a:latin typeface="Calibri"/>
                        </a:rPr>
                        <a:t>55000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128"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0F172A"/>
                          </a:solidFill>
                          <a:latin typeface="Calibri"/>
                        </a:rPr>
                        <a:t>P06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0F172A"/>
                          </a:solidFill>
                          <a:latin typeface="Calibri"/>
                        </a:rPr>
                        <a:t>Mouse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0F172A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CB0FD217-899C-7CC3-E59E-D74909094790}"/>
              </a:ext>
            </a:extLst>
          </p:cNvPr>
          <p:cNvSpPr txBox="1"/>
          <p:nvPr/>
        </p:nvSpPr>
        <p:spPr>
          <a:xfrm>
            <a:off x="6473952" y="317296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 i="0">
                <a:solidFill>
                  <a:srgbClr val="F5B95C"/>
                </a:solidFill>
                <a:latin typeface="Calibri"/>
              </a:rPr>
              <a:t>SALE_PRODUCT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B63B8171-A7AF-C1BD-A41D-E748A4CF72D5}"/>
              </a:ext>
            </a:extLst>
          </p:cNvPr>
          <p:cNvGraphicFramePr>
            <a:graphicFrameLocks noGrp="1"/>
          </p:cNvGraphicFramePr>
          <p:nvPr/>
        </p:nvGraphicFramePr>
        <p:xfrm>
          <a:off x="6446520" y="3438144"/>
          <a:ext cx="493776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Calibri"/>
                        </a:rPr>
                        <a:t>Sale_ID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Calibri"/>
                        </a:rPr>
                        <a:t>Product_ID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Calibri"/>
                        </a:rPr>
                        <a:t>Total_Amount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0F172A"/>
                          </a:solidFill>
                          <a:latin typeface="Calibri"/>
                        </a:rPr>
                        <a:t>S01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0F172A"/>
                          </a:solidFill>
                          <a:latin typeface="Calibri"/>
                        </a:rPr>
                        <a:t>P01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0F172A"/>
                          </a:solidFill>
                          <a:latin typeface="Calibri"/>
                        </a:rPr>
                        <a:t>55000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0F172A"/>
                          </a:solidFill>
                          <a:latin typeface="Calibri"/>
                        </a:rPr>
                        <a:t>S01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0F172A"/>
                          </a:solidFill>
                          <a:latin typeface="Calibri"/>
                        </a:rPr>
                        <a:t>P06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0F172A"/>
                          </a:solidFill>
                          <a:latin typeface="Calibri"/>
                        </a:rPr>
                        <a:t>1000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158B5D45-980F-8560-4F87-77678EF6B6AF}"/>
              </a:ext>
            </a:extLst>
          </p:cNvPr>
          <p:cNvSpPr txBox="1"/>
          <p:nvPr/>
        </p:nvSpPr>
        <p:spPr>
          <a:xfrm>
            <a:off x="6473952" y="461772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0" b="1" i="0">
                <a:solidFill>
                  <a:srgbClr val="86EFAC"/>
                </a:solidFill>
                <a:latin typeface="Calibri"/>
              </a:rPr>
              <a:t>Partial dependency removed: each non-key attribute depends on the whole key of its relation.</a:t>
            </a:r>
          </a:p>
        </p:txBody>
      </p:sp>
    </p:spTree>
    <p:extLst>
      <p:ext uri="{BB962C8B-B14F-4D97-AF65-F5344CB8AC3E}">
        <p14:creationId xmlns:p14="http://schemas.microsoft.com/office/powerpoint/2010/main" val="20852806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59BEC-E4FA-DBAF-4091-E66873EDB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>
            <a:extLst>
              <a:ext uri="{FF2B5EF4-FFF2-40B4-BE49-F238E27FC236}">
                <a16:creationId xmlns:a16="http://schemas.microsoft.com/office/drawing/2014/main" id="{8D70BBB8-41F3-BB42-4468-82C932AABFA0}"/>
              </a:ext>
            </a:extLst>
          </p:cNvPr>
          <p:cNvSpPr txBox="1">
            <a:spLocks/>
          </p:cNvSpPr>
          <p:nvPr/>
        </p:nvSpPr>
        <p:spPr>
          <a:xfrm>
            <a:off x="23317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sz="2550" b="1">
                <a:solidFill>
                  <a:srgbClr val="0070C0"/>
                </a:solidFill>
                <a:latin typeface="Maiandra GD"/>
              </a:rPr>
              <a:t>3NF — No Transitive Dependency</a:t>
            </a:r>
          </a:p>
        </p:txBody>
      </p:sp>
      <p:sp>
        <p:nvSpPr>
          <p:cNvPr id="32" name="TB32">
            <a:extLst>
              <a:ext uri="{FF2B5EF4-FFF2-40B4-BE49-F238E27FC236}">
                <a16:creationId xmlns:a16="http://schemas.microsoft.com/office/drawing/2014/main" id="{77B215BF-6E89-278C-E03A-7FC3552BDE4C}"/>
              </a:ext>
            </a:extLst>
          </p:cNvPr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sz="1500" i="1">
                <a:solidFill>
                  <a:srgbClr val="595959"/>
                </a:solidFill>
                <a:latin typeface="Calibri"/>
              </a:rPr>
              <a:t>Non-key attributes depend on the key, the whole key, and nothing but the key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B58E8F-9AE9-D18D-ED20-648A010E146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D4D25-86CE-8C60-973F-005F94FE575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Inventory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91E678-18D3-2504-D26E-A6CF7683C2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15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0F03B20-7996-F1CE-253A-9AD971DE40EA}"/>
              </a:ext>
            </a:extLst>
          </p:cNvPr>
          <p:cNvSpPr/>
          <p:nvPr/>
        </p:nvSpPr>
        <p:spPr>
          <a:xfrm>
            <a:off x="502920" y="1554480"/>
            <a:ext cx="525780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1B01D3-893C-B63D-EDB0-3F48B1C262A9}"/>
              </a:ext>
            </a:extLst>
          </p:cNvPr>
          <p:cNvSpPr txBox="1"/>
          <p:nvPr/>
        </p:nvSpPr>
        <p:spPr>
          <a:xfrm>
            <a:off x="713232" y="1737360"/>
            <a:ext cx="483717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5B95C"/>
                </a:solidFill>
                <a:latin typeface="Calibri"/>
              </a:rPr>
              <a:t>Before — 2NF product data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B6C546-C049-768C-6513-AA8F329A95AA}"/>
              </a:ext>
            </a:extLst>
          </p:cNvPr>
          <p:cNvSpPr txBox="1"/>
          <p:nvPr/>
        </p:nvSpPr>
        <p:spPr>
          <a:xfrm>
            <a:off x="749808" y="1956816"/>
            <a:ext cx="473659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40" b="0" i="0">
                <a:solidFill>
                  <a:srgbClr val="E5E7EB"/>
                </a:solidFill>
                <a:latin typeface="Consolas"/>
              </a:rPr>
              <a:t>PRODUCT_2NF(
  product_id, product_name, price,
  category_id, category_name,
  supplier_id, supplier_name
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EDBC0A-FFAF-036C-DD60-D01296BDC70B}"/>
              </a:ext>
            </a:extLst>
          </p:cNvPr>
          <p:cNvSpPr txBox="1"/>
          <p:nvPr/>
        </p:nvSpPr>
        <p:spPr>
          <a:xfrm>
            <a:off x="749808" y="2980944"/>
            <a:ext cx="47365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5B95C"/>
                </a:solidFill>
                <a:latin typeface="Calibri"/>
              </a:rPr>
              <a:t>Transitive dependencies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05668F-8C59-40C6-7958-9FD478C386BD}"/>
              </a:ext>
            </a:extLst>
          </p:cNvPr>
          <p:cNvSpPr txBox="1"/>
          <p:nvPr/>
        </p:nvSpPr>
        <p:spPr>
          <a:xfrm>
            <a:off x="749808" y="3282696"/>
            <a:ext cx="47365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 i="0">
                <a:solidFill>
                  <a:srgbClr val="E5E7EB"/>
                </a:solidFill>
                <a:latin typeface="Consolas"/>
              </a:rPr>
              <a:t>Category_ID → Category_Name
Supplier_ID → Supplier_Name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DD548D-F362-F128-3AB2-8EBC2CDE6995}"/>
              </a:ext>
            </a:extLst>
          </p:cNvPr>
          <p:cNvSpPr txBox="1"/>
          <p:nvPr/>
        </p:nvSpPr>
        <p:spPr>
          <a:xfrm>
            <a:off x="749808" y="4041648"/>
            <a:ext cx="473659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 non-key attribute determines another non-key attribute, so the relation is not yet in 3NF.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6938089-FDBF-ECD8-D1D7-EC5847414D0E}"/>
              </a:ext>
            </a:extLst>
          </p:cNvPr>
          <p:cNvSpPr/>
          <p:nvPr/>
        </p:nvSpPr>
        <p:spPr>
          <a:xfrm>
            <a:off x="5989320" y="1554480"/>
            <a:ext cx="5696712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1F0E92-B29C-834E-D4B7-E14CEE64690B}"/>
              </a:ext>
            </a:extLst>
          </p:cNvPr>
          <p:cNvSpPr txBox="1"/>
          <p:nvPr/>
        </p:nvSpPr>
        <p:spPr>
          <a:xfrm>
            <a:off x="6199632" y="1737360"/>
            <a:ext cx="5276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5B95C"/>
                </a:solidFill>
                <a:latin typeface="Calibri"/>
              </a:rPr>
              <a:t>After — 3NF decomposition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A7B791-58BC-7CDB-ED6C-E7D28D4A7777}"/>
              </a:ext>
            </a:extLst>
          </p:cNvPr>
          <p:cNvSpPr txBox="1"/>
          <p:nvPr/>
        </p:nvSpPr>
        <p:spPr>
          <a:xfrm>
            <a:off x="6236208" y="193852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B95C"/>
                </a:solidFill>
                <a:latin typeface="Calibri"/>
              </a:rPr>
              <a:t>PRODUCT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853ADD67-4199-C2ED-3093-04425A61EDD8}"/>
              </a:ext>
            </a:extLst>
          </p:cNvPr>
          <p:cNvGraphicFramePr>
            <a:graphicFrameLocks noGrp="1"/>
          </p:cNvGraphicFramePr>
          <p:nvPr/>
        </p:nvGraphicFramePr>
        <p:xfrm>
          <a:off x="6217920" y="2185416"/>
          <a:ext cx="5166360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FFFFFF"/>
                          </a:solidFill>
                          <a:latin typeface="Calibri"/>
                        </a:rPr>
                        <a:t>Product_ID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FFFFFF"/>
                          </a:solidFill>
                          <a:latin typeface="Calibri"/>
                        </a:rPr>
                        <a:t>Product_Name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FFFFFF"/>
                          </a:solidFill>
                          <a:latin typeface="Calibri"/>
                        </a:rPr>
                        <a:t>Category_ID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FFFFFF"/>
                          </a:solidFill>
                          <a:latin typeface="Calibri"/>
                        </a:rPr>
                        <a:t>Supplier_ID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0F172A"/>
                          </a:solidFill>
                          <a:latin typeface="Calibri"/>
                        </a:rPr>
                        <a:t>P01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0F172A"/>
                          </a:solidFill>
                          <a:latin typeface="Calibri"/>
                        </a:rPr>
                        <a:t>Laptop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0F172A"/>
                          </a:solidFill>
                          <a:latin typeface="Calibri"/>
                        </a:rPr>
                        <a:t>55000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BD4667A6-0E94-5EA0-6CE0-A386016834F7}"/>
              </a:ext>
            </a:extLst>
          </p:cNvPr>
          <p:cNvSpPr txBox="1"/>
          <p:nvPr/>
        </p:nvSpPr>
        <p:spPr>
          <a:xfrm>
            <a:off x="6236208" y="29992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B95C"/>
                </a:solidFill>
                <a:latin typeface="Calibri"/>
              </a:rPr>
              <a:t>Categorys</a:t>
            </a: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5816D520-8CB2-01D7-6C97-98978AD58E1F}"/>
              </a:ext>
            </a:extLst>
          </p:cNvPr>
          <p:cNvGraphicFramePr>
            <a:graphicFrameLocks noGrp="1"/>
          </p:cNvGraphicFramePr>
          <p:nvPr/>
        </p:nvGraphicFramePr>
        <p:xfrm>
          <a:off x="6217920" y="3246120"/>
          <a:ext cx="24231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Calibri"/>
                        </a:rPr>
                        <a:t>Category_ID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Calibri"/>
                        </a:rPr>
                        <a:t>Category_Name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F172A"/>
                          </a:solidFill>
                          <a:latin typeface="Calibri"/>
                        </a:rPr>
                        <a:t>Electronics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D6BA5AE1-47F0-45D4-77A4-DED1CDCC83F7}"/>
              </a:ext>
            </a:extLst>
          </p:cNvPr>
          <p:cNvSpPr txBox="1"/>
          <p:nvPr/>
        </p:nvSpPr>
        <p:spPr>
          <a:xfrm>
            <a:off x="8869680" y="29992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B95C"/>
                </a:solidFill>
                <a:latin typeface="Calibri"/>
              </a:rPr>
              <a:t>Suppliers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DE06A097-5B27-5B02-B971-01A81ADBA8EC}"/>
              </a:ext>
            </a:extLst>
          </p:cNvPr>
          <p:cNvGraphicFramePr>
            <a:graphicFrameLocks noGrp="1"/>
          </p:cNvGraphicFramePr>
          <p:nvPr/>
        </p:nvGraphicFramePr>
        <p:xfrm>
          <a:off x="8732520" y="3246120"/>
          <a:ext cx="260604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Calibri"/>
                        </a:rPr>
                        <a:t>Supplier_ID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Calibri"/>
                        </a:rPr>
                        <a:t>Supplier_Name</a:t>
                      </a:r>
                    </a:p>
                  </a:txBody>
                  <a:tcPr marL="32004" marR="32004" marT="18288" marB="18288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F172A"/>
                          </a:solidFill>
                          <a:latin typeface="Calibri"/>
                        </a:rPr>
                        <a:t>ABC Traders</a:t>
                      </a:r>
                    </a:p>
                  </a:txBody>
                  <a:tcPr marL="32004" marR="32004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74B1CBA3-49FD-A7D8-4C43-B93AB8ED87F7}"/>
              </a:ext>
            </a:extLst>
          </p:cNvPr>
          <p:cNvSpPr txBox="1"/>
          <p:nvPr/>
        </p:nvSpPr>
        <p:spPr>
          <a:xfrm>
            <a:off x="6236208" y="4169663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 i="0">
                <a:solidFill>
                  <a:srgbClr val="86EFAC"/>
                </a:solidFill>
                <a:latin typeface="Calibri"/>
              </a:rPr>
              <a:t>Final project schema also includes Sales and Customers; Product keeps Category_ID and Supplier_ID as FKs.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D8C08F-E71F-0EF4-D297-EDFD9A472D35}"/>
              </a:ext>
            </a:extLst>
          </p:cNvPr>
          <p:cNvSpPr txBox="1"/>
          <p:nvPr/>
        </p:nvSpPr>
        <p:spPr>
          <a:xfrm>
            <a:off x="6236208" y="4718304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0" b="0" i="0">
                <a:solidFill>
                  <a:srgbClr val="E5E7EB"/>
                </a:solidFill>
                <a:latin typeface="Calibri"/>
              </a:rPr>
              <a:t>Result: Product, Categorys and Suppliers match the entities and relationships in the main ER design.</a:t>
            </a:r>
          </a:p>
        </p:txBody>
      </p:sp>
    </p:spTree>
    <p:extLst>
      <p:ext uri="{BB962C8B-B14F-4D97-AF65-F5344CB8AC3E}">
        <p14:creationId xmlns:p14="http://schemas.microsoft.com/office/powerpoint/2010/main" val="16407323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595406" y="2857496"/>
            <a:ext cx="9215502" cy="1363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 algn="ctr" defTabSz="914400">
              <a:lnSpc>
                <a:spcPct val="170000"/>
              </a:lnSpc>
              <a:spcBef>
                <a:spcPct val="0"/>
              </a:spcBef>
              <a:defRPr/>
            </a:pPr>
            <a:r>
              <a:rPr lang="en-US" sz="7200" b="1" spc="-50" dirty="0">
                <a:solidFill>
                  <a:schemeClr val="accent1">
                    <a:lumMod val="75000"/>
                  </a:schemeClr>
                </a:solidFill>
                <a:latin typeface="Maiandra GD" pitchFamily="34" charset="0"/>
              </a:rPr>
              <a:t>Thank </a:t>
            </a:r>
            <a:r>
              <a:rPr lang="en-US" sz="7200" b="1" spc="-50" dirty="0" err="1">
                <a:solidFill>
                  <a:schemeClr val="accent1">
                    <a:lumMod val="75000"/>
                  </a:schemeClr>
                </a:solidFill>
                <a:latin typeface="Maiandra GD" pitchFamily="34" charset="0"/>
              </a:rPr>
              <a:t>Youuuuuuuuu</a:t>
            </a:r>
            <a:endParaRPr lang="en-US" sz="7200" b="1" spc="-50" dirty="0">
              <a:solidFill>
                <a:schemeClr val="accent1">
                  <a:lumMod val="75000"/>
                </a:schemeClr>
              </a:solidFill>
              <a:latin typeface="Maiandra GD" pitchFamily="34" charset="0"/>
            </a:endParaRPr>
          </a:p>
        </p:txBody>
      </p:sp>
      <p:sp>
        <p:nvSpPr>
          <p:cNvPr id="17" name="Subtitle 2"/>
          <p:cNvSpPr txBox="1">
            <a:spLocks/>
          </p:cNvSpPr>
          <p:nvPr/>
        </p:nvSpPr>
        <p:spPr>
          <a:xfrm>
            <a:off x="1595406" y="4400000"/>
            <a:ext cx="9215502" cy="6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2400" i="1" dirty="0">
                <a:solidFill>
                  <a:srgbClr val="595959"/>
                </a:solidFill>
                <a:latin typeface="Tw Cen MT" pitchFamily="34" charset="0"/>
              </a:rPr>
              <a:t>Questions welcome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r>
              <a:rPr sz="1000">
                <a:solidFill>
                  <a:srgbClr val="808080"/>
                </a:solidFill>
                <a:latin typeface="Calibri"/>
              </a:rPr>
              <a:t>40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30/09/26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6758</TotalTime>
  <Words>4233</Words>
  <Application>Microsoft Macintosh PowerPoint</Application>
  <PresentationFormat>Widescreen</PresentationFormat>
  <Paragraphs>905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Calibri Light</vt:lpstr>
      <vt:lpstr>Consolas</vt:lpstr>
      <vt:lpstr>Maiandra GD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Siva Ganesh</cp:lastModifiedBy>
  <cp:revision>726</cp:revision>
  <cp:lastPrinted>2023-06-09T04:58:36Z</cp:lastPrinted>
  <dcterms:created xsi:type="dcterms:W3CDTF">2019-12-14T03:50:52Z</dcterms:created>
  <dcterms:modified xsi:type="dcterms:W3CDTF">2026-09-30T08:24:50Z</dcterms:modified>
</cp:coreProperties>
</file>